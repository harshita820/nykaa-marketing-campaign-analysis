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0" r:id="rId6"/>
    <p:sldId id="260" r:id="rId7"/>
    <p:sldId id="261" r:id="rId8"/>
    <p:sldId id="262" r:id="rId9"/>
    <p:sldId id="272" r:id="rId10"/>
    <p:sldId id="263" r:id="rId11"/>
    <p:sldId id="273" r:id="rId12"/>
    <p:sldId id="264" r:id="rId13"/>
    <p:sldId id="274" r:id="rId14"/>
    <p:sldId id="265" r:id="rId15"/>
    <p:sldId id="275" r:id="rId16"/>
    <p:sldId id="266" r:id="rId17"/>
    <p:sldId id="267" r:id="rId18"/>
    <p:sldId id="268"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77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1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17320"/>
            <a:ext cx="10515600" cy="1371600"/>
          </a:xfrm>
          <a:prstGeom prst="rect">
            <a:avLst/>
          </a:prstGeom>
          <a:noFill/>
        </p:spPr>
        <p:txBody>
          <a:bodyPr wrap="none">
            <a:spAutoFit/>
          </a:bodyPr>
          <a:lstStyle/>
          <a:p>
            <a:r>
              <a:rPr sz="3800" b="1">
                <a:solidFill>
                  <a:srgbClr val="FFFFFF"/>
                </a:solidFill>
              </a:rPr>
              <a:t>Nykaa Marketing Campaign Performance Analysis</a:t>
            </a:r>
          </a:p>
        </p:txBody>
      </p:sp>
      <p:sp>
        <p:nvSpPr>
          <p:cNvPr id="5" name="TextBox 4"/>
          <p:cNvSpPr txBox="1"/>
          <p:nvPr/>
        </p:nvSpPr>
        <p:spPr>
          <a:xfrm>
            <a:off x="822960" y="2596559"/>
            <a:ext cx="10208949" cy="384721"/>
          </a:xfrm>
          <a:prstGeom prst="rect">
            <a:avLst/>
          </a:prstGeom>
          <a:noFill/>
        </p:spPr>
        <p:txBody>
          <a:bodyPr wrap="none">
            <a:spAutoFit/>
          </a:bodyPr>
          <a:lstStyle/>
          <a:p>
            <a:r>
              <a:rPr sz="1900" dirty="0">
                <a:solidFill>
                  <a:srgbClr val="DAE0EB"/>
                </a:solidFill>
              </a:rPr>
              <a:t>Business insights, </a:t>
            </a:r>
            <a:r>
              <a:rPr sz="1900" dirty="0">
                <a:solidFill>
                  <a:schemeClr val="bg1">
                    <a:lumMod val="95000"/>
                  </a:schemeClr>
                </a:solidFill>
              </a:rPr>
              <a:t>funnel</a:t>
            </a:r>
            <a:r>
              <a:rPr sz="1900" dirty="0">
                <a:solidFill>
                  <a:srgbClr val="DAE0EB"/>
                </a:solidFill>
              </a:rPr>
              <a:t> performance, customer segments, channel efficiency and marketing strategy</a:t>
            </a:r>
          </a:p>
        </p:txBody>
      </p:sp>
      <p:sp>
        <p:nvSpPr>
          <p:cNvPr id="6" name="TextBox 5"/>
          <p:cNvSpPr txBox="1"/>
          <p:nvPr/>
        </p:nvSpPr>
        <p:spPr>
          <a:xfrm>
            <a:off x="841248" y="5212080"/>
            <a:ext cx="2450927" cy="307777"/>
          </a:xfrm>
          <a:prstGeom prst="rect">
            <a:avLst/>
          </a:prstGeom>
          <a:noFill/>
        </p:spPr>
        <p:txBody>
          <a:bodyPr wrap="none">
            <a:spAutoFit/>
          </a:bodyPr>
          <a:lstStyle/>
          <a:p>
            <a:r>
              <a:rPr sz="1400" dirty="0">
                <a:solidFill>
                  <a:schemeClr val="bg1"/>
                </a:solidFill>
              </a:rPr>
              <a:t>Data Analytics Portfolio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dirty="0">
                <a:solidFill>
                  <a:srgbClr val="1C345B"/>
                </a:solidFill>
              </a:rPr>
              <a:t>1. Business Problem &amp; Objective</a:t>
            </a:r>
          </a:p>
        </p:txBody>
      </p:sp>
      <p:sp>
        <p:nvSpPr>
          <p:cNvPr id="4" name="Rounded Rectangle 3"/>
          <p:cNvSpPr/>
          <p:nvPr/>
        </p:nvSpPr>
        <p:spPr>
          <a:xfrm>
            <a:off x="685800" y="1325880"/>
            <a:ext cx="5349240" cy="182880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325880"/>
            <a:ext cx="73152" cy="182880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472184"/>
            <a:ext cx="4983479" cy="1554480"/>
          </a:xfrm>
          <a:prstGeom prst="rect">
            <a:avLst/>
          </a:prstGeom>
          <a:noFill/>
        </p:spPr>
        <p:txBody>
          <a:bodyPr wrap="square">
            <a:spAutoFit/>
          </a:bodyPr>
          <a:lstStyle/>
          <a:p>
            <a:r>
              <a:rPr sz="1500" b="1">
                <a:solidFill>
                  <a:srgbClr val="1C345B"/>
                </a:solidFill>
              </a:rPr>
              <a:t>Business problem</a:t>
            </a:r>
          </a:p>
          <a:p>
            <a:pPr>
              <a:spcBef>
                <a:spcPts val="700"/>
              </a:spcBef>
            </a:pPr>
            <a:r>
              <a:rPr sz="1400">
                <a:solidFill>
                  <a:srgbClr val="2D2D32"/>
                </a:solidFill>
              </a:rPr>
              <a:t>Nykaa invests across campaign types, channels, audiences and languages, but campaign performance varies considerably. The objective is to identify what is associated with successful campaigns, where users drop off, and where marketing resources can be allocated more efficiently.</a:t>
            </a:r>
          </a:p>
        </p:txBody>
      </p:sp>
      <p:sp>
        <p:nvSpPr>
          <p:cNvPr id="7" name="Rounded Rectangle 6"/>
          <p:cNvSpPr/>
          <p:nvPr/>
        </p:nvSpPr>
        <p:spPr>
          <a:xfrm>
            <a:off x="6172200" y="1325880"/>
            <a:ext cx="5349240" cy="182880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325880"/>
            <a:ext cx="73152" cy="182880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472184"/>
            <a:ext cx="4983479" cy="1554480"/>
          </a:xfrm>
          <a:prstGeom prst="rect">
            <a:avLst/>
          </a:prstGeom>
          <a:noFill/>
        </p:spPr>
        <p:txBody>
          <a:bodyPr wrap="square">
            <a:spAutoFit/>
          </a:bodyPr>
          <a:lstStyle/>
          <a:p>
            <a:r>
              <a:rPr sz="1500" b="1">
                <a:solidFill>
                  <a:srgbClr val="1C345B"/>
                </a:solidFill>
              </a:rPr>
              <a:t>Business objective</a:t>
            </a:r>
          </a:p>
          <a:p>
            <a:pPr>
              <a:spcBef>
                <a:spcPts val="700"/>
              </a:spcBef>
            </a:pPr>
            <a:r>
              <a:rPr sz="1400">
                <a:solidFill>
                  <a:srgbClr val="2D2D32"/>
                </a:solidFill>
              </a:rPr>
              <a:t>Evaluate the effectiveness and profitability of Nykaa's marketing campaigns, understand where users drop off in the conversion funnel, identify high-performing customer segments and channels, and provide actionable recommendations to improve campaign ROI and conversions.</a:t>
            </a:r>
          </a:p>
        </p:txBody>
      </p:sp>
      <p:sp>
        <p:nvSpPr>
          <p:cNvPr id="10" name="Rounded Rectangle 9"/>
          <p:cNvSpPr/>
          <p:nvPr/>
        </p:nvSpPr>
        <p:spPr>
          <a:xfrm>
            <a:off x="685800" y="3429000"/>
            <a:ext cx="1083564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429000"/>
            <a:ext cx="73152" cy="15087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575304"/>
            <a:ext cx="10469880" cy="1234439"/>
          </a:xfrm>
          <a:prstGeom prst="rect">
            <a:avLst/>
          </a:prstGeom>
          <a:noFill/>
        </p:spPr>
        <p:txBody>
          <a:bodyPr wrap="square">
            <a:spAutoFit/>
          </a:bodyPr>
          <a:lstStyle/>
          <a:p>
            <a:r>
              <a:rPr sz="1500" b="1">
                <a:solidFill>
                  <a:srgbClr val="1C345B"/>
                </a:solidFill>
              </a:rPr>
              <a:t>Decision focus</a:t>
            </a:r>
          </a:p>
          <a:p>
            <a:pPr>
              <a:spcBef>
                <a:spcPts val="700"/>
              </a:spcBef>
            </a:pPr>
            <a:r>
              <a:rPr sz="1600">
                <a:solidFill>
                  <a:srgbClr val="2D2D32"/>
                </a:solidFill>
              </a:rPr>
              <a:t>Where should Nykaa increase investment, where should it optimize, and which campaign patterns should become benchmarks?</a:t>
            </a:r>
          </a:p>
        </p:txBody>
      </p:sp>
      <p:sp>
        <p:nvSpPr>
          <p:cNvPr id="15" name="TextBox 14"/>
          <p:cNvSpPr txBox="1"/>
          <p:nvPr/>
        </p:nvSpPr>
        <p:spPr>
          <a:xfrm>
            <a:off x="11155680" y="6547104"/>
            <a:ext cx="365760" cy="182880"/>
          </a:xfrm>
          <a:prstGeom prst="rect">
            <a:avLst/>
          </a:prstGeom>
          <a:noFill/>
        </p:spPr>
        <p:txBody>
          <a:bodyPr wrap="none">
            <a:spAutoFit/>
          </a:bodyPr>
          <a:lstStyle/>
          <a:p>
            <a:pPr algn="r"/>
            <a:r>
              <a:rPr sz="800">
                <a:solidFill>
                  <a:srgbClr val="646973"/>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2. KPIs &amp; Analytical Framework</a:t>
            </a:r>
          </a:p>
        </p:txBody>
      </p:sp>
      <p:sp>
        <p:nvSpPr>
          <p:cNvPr id="4" name="Rounded Rectangle 3"/>
          <p:cNvSpPr/>
          <p:nvPr/>
        </p:nvSpPr>
        <p:spPr>
          <a:xfrm>
            <a:off x="685800" y="137160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371600"/>
            <a:ext cx="73152" cy="96012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517904"/>
            <a:ext cx="2148840" cy="685800"/>
          </a:xfrm>
          <a:prstGeom prst="rect">
            <a:avLst/>
          </a:prstGeom>
          <a:noFill/>
        </p:spPr>
        <p:txBody>
          <a:bodyPr wrap="square">
            <a:spAutoFit/>
          </a:bodyPr>
          <a:lstStyle/>
          <a:p>
            <a:r>
              <a:rPr sz="1500" b="1">
                <a:solidFill>
                  <a:srgbClr val="1C345B"/>
                </a:solidFill>
              </a:rPr>
              <a:t>Revenue</a:t>
            </a:r>
          </a:p>
          <a:p>
            <a:pPr>
              <a:spcBef>
                <a:spcPts val="700"/>
              </a:spcBef>
            </a:pPr>
            <a:r>
              <a:rPr sz="900">
                <a:solidFill>
                  <a:srgbClr val="2D2D32"/>
                </a:solidFill>
              </a:rPr>
              <a:t>Core marketing performance measure</a:t>
            </a:r>
          </a:p>
        </p:txBody>
      </p:sp>
      <p:sp>
        <p:nvSpPr>
          <p:cNvPr id="7" name="Rounded Rectangle 6"/>
          <p:cNvSpPr/>
          <p:nvPr/>
        </p:nvSpPr>
        <p:spPr>
          <a:xfrm>
            <a:off x="3474720" y="137160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0" y="1371600"/>
            <a:ext cx="73152" cy="96012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75887" y="1517904"/>
            <a:ext cx="2148840" cy="685800"/>
          </a:xfrm>
          <a:prstGeom prst="rect">
            <a:avLst/>
          </a:prstGeom>
          <a:noFill/>
        </p:spPr>
        <p:txBody>
          <a:bodyPr wrap="square">
            <a:spAutoFit/>
          </a:bodyPr>
          <a:lstStyle/>
          <a:p>
            <a:r>
              <a:rPr sz="1500" b="1">
                <a:solidFill>
                  <a:srgbClr val="1C345B"/>
                </a:solidFill>
              </a:rPr>
              <a:t>Spend</a:t>
            </a:r>
          </a:p>
          <a:p>
            <a:pPr>
              <a:spcBef>
                <a:spcPts val="700"/>
              </a:spcBef>
            </a:pPr>
            <a:r>
              <a:rPr sz="900">
                <a:solidFill>
                  <a:srgbClr val="2D2D32"/>
                </a:solidFill>
              </a:rPr>
              <a:t>Core marketing performance measure</a:t>
            </a:r>
          </a:p>
        </p:txBody>
      </p:sp>
      <p:sp>
        <p:nvSpPr>
          <p:cNvPr id="10" name="Rounded Rectangle 9"/>
          <p:cNvSpPr/>
          <p:nvPr/>
        </p:nvSpPr>
        <p:spPr>
          <a:xfrm>
            <a:off x="6263640" y="137160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71600"/>
            <a:ext cx="73152" cy="96012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7" y="1517904"/>
            <a:ext cx="2148840" cy="685800"/>
          </a:xfrm>
          <a:prstGeom prst="rect">
            <a:avLst/>
          </a:prstGeom>
          <a:noFill/>
        </p:spPr>
        <p:txBody>
          <a:bodyPr wrap="square">
            <a:spAutoFit/>
          </a:bodyPr>
          <a:lstStyle/>
          <a:p>
            <a:r>
              <a:rPr sz="1500" b="1">
                <a:solidFill>
                  <a:srgbClr val="1C345B"/>
                </a:solidFill>
              </a:rPr>
              <a:t>ROI</a:t>
            </a:r>
          </a:p>
          <a:p>
            <a:pPr>
              <a:spcBef>
                <a:spcPts val="700"/>
              </a:spcBef>
            </a:pPr>
            <a:r>
              <a:rPr sz="900">
                <a:solidFill>
                  <a:srgbClr val="2D2D32"/>
                </a:solidFill>
              </a:rPr>
              <a:t>Core marketing performance measure</a:t>
            </a:r>
          </a:p>
        </p:txBody>
      </p:sp>
      <p:sp>
        <p:nvSpPr>
          <p:cNvPr id="13" name="Rounded Rectangle 12"/>
          <p:cNvSpPr/>
          <p:nvPr/>
        </p:nvSpPr>
        <p:spPr>
          <a:xfrm>
            <a:off x="9052559" y="137160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052559" y="1371600"/>
            <a:ext cx="73152" cy="960120"/>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53728" y="1517904"/>
            <a:ext cx="2148840" cy="685800"/>
          </a:xfrm>
          <a:prstGeom prst="rect">
            <a:avLst/>
          </a:prstGeom>
          <a:noFill/>
        </p:spPr>
        <p:txBody>
          <a:bodyPr wrap="square">
            <a:spAutoFit/>
          </a:bodyPr>
          <a:lstStyle/>
          <a:p>
            <a:r>
              <a:rPr sz="1500" b="1">
                <a:solidFill>
                  <a:srgbClr val="1C345B"/>
                </a:solidFill>
              </a:rPr>
              <a:t>Conversions</a:t>
            </a:r>
          </a:p>
          <a:p>
            <a:pPr>
              <a:spcBef>
                <a:spcPts val="700"/>
              </a:spcBef>
            </a:pPr>
            <a:r>
              <a:rPr sz="900">
                <a:solidFill>
                  <a:srgbClr val="2D2D32"/>
                </a:solidFill>
              </a:rPr>
              <a:t>Core marketing performance measure</a:t>
            </a:r>
          </a:p>
        </p:txBody>
      </p:sp>
      <p:sp>
        <p:nvSpPr>
          <p:cNvPr id="16" name="Rounded Rectangle 15"/>
          <p:cNvSpPr/>
          <p:nvPr/>
        </p:nvSpPr>
        <p:spPr>
          <a:xfrm>
            <a:off x="685800" y="269748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Rectangle 16"/>
          <p:cNvSpPr/>
          <p:nvPr/>
        </p:nvSpPr>
        <p:spPr>
          <a:xfrm>
            <a:off x="685800" y="2697480"/>
            <a:ext cx="73152" cy="96012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2843784"/>
            <a:ext cx="2148840" cy="685800"/>
          </a:xfrm>
          <a:prstGeom prst="rect">
            <a:avLst/>
          </a:prstGeom>
          <a:noFill/>
        </p:spPr>
        <p:txBody>
          <a:bodyPr wrap="square">
            <a:spAutoFit/>
          </a:bodyPr>
          <a:lstStyle/>
          <a:p>
            <a:r>
              <a:rPr sz="1500" b="1" dirty="0">
                <a:solidFill>
                  <a:srgbClr val="1C345B"/>
                </a:solidFill>
              </a:rPr>
              <a:t>CPA</a:t>
            </a:r>
          </a:p>
          <a:p>
            <a:pPr>
              <a:spcBef>
                <a:spcPts val="700"/>
              </a:spcBef>
            </a:pPr>
            <a:r>
              <a:rPr sz="900" dirty="0">
                <a:solidFill>
                  <a:srgbClr val="2D2D32"/>
                </a:solidFill>
              </a:rPr>
              <a:t>Core marketing performance measure</a:t>
            </a:r>
          </a:p>
        </p:txBody>
      </p:sp>
      <p:sp>
        <p:nvSpPr>
          <p:cNvPr id="19" name="Rounded Rectangle 18"/>
          <p:cNvSpPr/>
          <p:nvPr/>
        </p:nvSpPr>
        <p:spPr>
          <a:xfrm>
            <a:off x="3474720" y="269748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74720" y="2697480"/>
            <a:ext cx="73152" cy="96012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75887" y="2843784"/>
            <a:ext cx="2148840" cy="685800"/>
          </a:xfrm>
          <a:prstGeom prst="rect">
            <a:avLst/>
          </a:prstGeom>
          <a:noFill/>
        </p:spPr>
        <p:txBody>
          <a:bodyPr wrap="square">
            <a:spAutoFit/>
          </a:bodyPr>
          <a:lstStyle/>
          <a:p>
            <a:r>
              <a:rPr sz="1500" b="1">
                <a:solidFill>
                  <a:srgbClr val="1C345B"/>
                </a:solidFill>
              </a:rPr>
              <a:t>CTR</a:t>
            </a:r>
          </a:p>
          <a:p>
            <a:pPr>
              <a:spcBef>
                <a:spcPts val="700"/>
              </a:spcBef>
            </a:pPr>
            <a:r>
              <a:rPr sz="900">
                <a:solidFill>
                  <a:srgbClr val="2D2D32"/>
                </a:solidFill>
              </a:rPr>
              <a:t>Core marketing performance measure</a:t>
            </a:r>
          </a:p>
        </p:txBody>
      </p:sp>
      <p:sp>
        <p:nvSpPr>
          <p:cNvPr id="22" name="Rounded Rectangle 21"/>
          <p:cNvSpPr/>
          <p:nvPr/>
        </p:nvSpPr>
        <p:spPr>
          <a:xfrm>
            <a:off x="6263640" y="2697480"/>
            <a:ext cx="251460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63640" y="2697480"/>
            <a:ext cx="73152" cy="96012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64807" y="2843784"/>
            <a:ext cx="2148840" cy="685800"/>
          </a:xfrm>
          <a:prstGeom prst="rect">
            <a:avLst/>
          </a:prstGeom>
          <a:noFill/>
        </p:spPr>
        <p:txBody>
          <a:bodyPr wrap="square">
            <a:spAutoFit/>
          </a:bodyPr>
          <a:lstStyle/>
          <a:p>
            <a:r>
              <a:rPr sz="1500" b="1">
                <a:solidFill>
                  <a:srgbClr val="1C345B"/>
                </a:solidFill>
              </a:rPr>
              <a:t>Conversion Rate</a:t>
            </a:r>
          </a:p>
          <a:p>
            <a:pPr>
              <a:spcBef>
                <a:spcPts val="700"/>
              </a:spcBef>
            </a:pPr>
            <a:r>
              <a:rPr sz="900">
                <a:solidFill>
                  <a:srgbClr val="2D2D32"/>
                </a:solidFill>
              </a:rPr>
              <a:t>Core marketing performance measure</a:t>
            </a:r>
          </a:p>
        </p:txBody>
      </p:sp>
      <p:sp>
        <p:nvSpPr>
          <p:cNvPr id="25" name="Rounded Rectangle 24"/>
          <p:cNvSpPr/>
          <p:nvPr/>
        </p:nvSpPr>
        <p:spPr>
          <a:xfrm>
            <a:off x="685800" y="4297680"/>
            <a:ext cx="10789920" cy="114300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 y="4297680"/>
            <a:ext cx="73152" cy="1143000"/>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4443984"/>
            <a:ext cx="10424160" cy="868680"/>
          </a:xfrm>
          <a:prstGeom prst="rect">
            <a:avLst/>
          </a:prstGeom>
          <a:noFill/>
        </p:spPr>
        <p:txBody>
          <a:bodyPr wrap="square">
            <a:spAutoFit/>
          </a:bodyPr>
          <a:lstStyle/>
          <a:p>
            <a:r>
              <a:rPr sz="1500" b="1">
                <a:solidFill>
                  <a:srgbClr val="1C345B"/>
                </a:solidFill>
              </a:rPr>
              <a:t>Funnel framework</a:t>
            </a:r>
          </a:p>
          <a:p>
            <a:pPr>
              <a:spcBef>
                <a:spcPts val="700"/>
              </a:spcBef>
            </a:pPr>
            <a:r>
              <a:rPr sz="1600">
                <a:solidFill>
                  <a:srgbClr val="2D2D32"/>
                </a:solidFill>
              </a:rPr>
              <a:t>Impressions → Clicks → Leads → Conversions → Revenue / profitability outcome</a:t>
            </a:r>
          </a:p>
        </p:txBody>
      </p:sp>
      <p:sp>
        <p:nvSpPr>
          <p:cNvPr id="28" name="Rectangle 27"/>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30" name="TextBox 29"/>
          <p:cNvSpPr txBox="1"/>
          <p:nvPr/>
        </p:nvSpPr>
        <p:spPr>
          <a:xfrm>
            <a:off x="11155680" y="6547104"/>
            <a:ext cx="365760" cy="182880"/>
          </a:xfrm>
          <a:prstGeom prst="rect">
            <a:avLst/>
          </a:prstGeom>
          <a:noFill/>
        </p:spPr>
        <p:txBody>
          <a:bodyPr wrap="none">
            <a:spAutoFit/>
          </a:bodyPr>
          <a:lstStyle/>
          <a:p>
            <a:pPr algn="r"/>
            <a:r>
              <a:rPr sz="800">
                <a:solidFill>
                  <a:srgbClr val="646973"/>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48640"/>
          </a:xfrm>
          <a:prstGeom prst="rect">
            <a:avLst/>
          </a:prstGeom>
          <a:noFill/>
        </p:spPr>
        <p:txBody>
          <a:bodyPr wrap="none">
            <a:spAutoFit/>
          </a:bodyPr>
          <a:lstStyle/>
          <a:p>
            <a:r>
              <a:rPr sz="2700" b="1" dirty="0">
                <a:solidFill>
                  <a:srgbClr val="1C345B"/>
                </a:solidFill>
              </a:rPr>
              <a:t>3. Campaign Performance — What Worked?</a:t>
            </a:r>
          </a:p>
        </p:txBody>
      </p:sp>
      <p:sp>
        <p:nvSpPr>
          <p:cNvPr id="4" name="Rounded Rectangle 3"/>
          <p:cNvSpPr/>
          <p:nvPr/>
        </p:nvSpPr>
        <p:spPr>
          <a:xfrm>
            <a:off x="685800" y="1234440"/>
            <a:ext cx="342900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15087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3063240" cy="1234439"/>
          </a:xfrm>
          <a:prstGeom prst="rect">
            <a:avLst/>
          </a:prstGeom>
          <a:noFill/>
        </p:spPr>
        <p:txBody>
          <a:bodyPr wrap="square">
            <a:spAutoFit/>
          </a:bodyPr>
          <a:lstStyle/>
          <a:p>
            <a:r>
              <a:rPr sz="1500" b="1">
                <a:solidFill>
                  <a:srgbClr val="1C345B"/>
                </a:solidFill>
              </a:rPr>
              <a:t>Highest ROI</a:t>
            </a:r>
          </a:p>
          <a:p>
            <a:pPr>
              <a:spcBef>
                <a:spcPts val="700"/>
              </a:spcBef>
            </a:pPr>
            <a:r>
              <a:rPr sz="1700">
                <a:solidFill>
                  <a:srgbClr val="2D2D32"/>
                </a:solidFill>
              </a:rPr>
              <a:t>Social Media and Paid Ads</a:t>
            </a:r>
          </a:p>
        </p:txBody>
      </p:sp>
      <p:sp>
        <p:nvSpPr>
          <p:cNvPr id="7" name="Rounded Rectangle 6"/>
          <p:cNvSpPr/>
          <p:nvPr/>
        </p:nvSpPr>
        <p:spPr>
          <a:xfrm>
            <a:off x="4389120" y="1234440"/>
            <a:ext cx="342900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0" y="1234440"/>
            <a:ext cx="73152" cy="150876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0288" y="1380744"/>
            <a:ext cx="3063240" cy="1234439"/>
          </a:xfrm>
          <a:prstGeom prst="rect">
            <a:avLst/>
          </a:prstGeom>
          <a:noFill/>
        </p:spPr>
        <p:txBody>
          <a:bodyPr wrap="square">
            <a:spAutoFit/>
          </a:bodyPr>
          <a:lstStyle/>
          <a:p>
            <a:r>
              <a:rPr sz="1500" b="1">
                <a:solidFill>
                  <a:srgbClr val="1C345B"/>
                </a:solidFill>
              </a:rPr>
              <a:t>Highest conversion rate</a:t>
            </a:r>
          </a:p>
          <a:p>
            <a:pPr>
              <a:spcBef>
                <a:spcPts val="700"/>
              </a:spcBef>
            </a:pPr>
            <a:r>
              <a:rPr sz="1700">
                <a:solidFill>
                  <a:srgbClr val="2D2D32"/>
                </a:solidFill>
              </a:rPr>
              <a:t>Influencer and Social Media</a:t>
            </a:r>
          </a:p>
        </p:txBody>
      </p:sp>
      <p:sp>
        <p:nvSpPr>
          <p:cNvPr id="10" name="Rounded Rectangle 9"/>
          <p:cNvSpPr/>
          <p:nvPr/>
        </p:nvSpPr>
        <p:spPr>
          <a:xfrm>
            <a:off x="8092440" y="1234440"/>
            <a:ext cx="342900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92440" y="1234440"/>
            <a:ext cx="73152" cy="15087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93608" y="1380744"/>
            <a:ext cx="3063240" cy="1234439"/>
          </a:xfrm>
          <a:prstGeom prst="rect">
            <a:avLst/>
          </a:prstGeom>
          <a:noFill/>
        </p:spPr>
        <p:txBody>
          <a:bodyPr wrap="square">
            <a:spAutoFit/>
          </a:bodyPr>
          <a:lstStyle/>
          <a:p>
            <a:r>
              <a:rPr sz="1500" b="1">
                <a:solidFill>
                  <a:srgbClr val="1C345B"/>
                </a:solidFill>
              </a:rPr>
              <a:t>Highest revenue</a:t>
            </a:r>
          </a:p>
          <a:p>
            <a:pPr>
              <a:spcBef>
                <a:spcPts val="700"/>
              </a:spcBef>
            </a:pPr>
            <a:r>
              <a:rPr sz="1600">
                <a:solidFill>
                  <a:srgbClr val="2D2D32"/>
                </a:solidFill>
              </a:rPr>
              <a:t>Influencer, Social Media and Paid Ads</a:t>
            </a:r>
          </a:p>
        </p:txBody>
      </p:sp>
      <p:sp>
        <p:nvSpPr>
          <p:cNvPr id="13" name="Rounded Rectangle 12"/>
          <p:cNvSpPr/>
          <p:nvPr/>
        </p:nvSpPr>
        <p:spPr>
          <a:xfrm>
            <a:off x="685800" y="3063240"/>
            <a:ext cx="5257800" cy="16916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063240"/>
            <a:ext cx="73152" cy="1691640"/>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209544"/>
            <a:ext cx="4892040" cy="1417320"/>
          </a:xfrm>
          <a:prstGeom prst="rect">
            <a:avLst/>
          </a:prstGeom>
          <a:noFill/>
        </p:spPr>
        <p:txBody>
          <a:bodyPr wrap="square">
            <a:spAutoFit/>
          </a:bodyPr>
          <a:lstStyle/>
          <a:p>
            <a:r>
              <a:rPr sz="1500" b="1">
                <a:solidFill>
                  <a:srgbClr val="1C345B"/>
                </a:solidFill>
              </a:rPr>
              <a:t>Highest spend</a:t>
            </a:r>
          </a:p>
          <a:p>
            <a:pPr>
              <a:spcBef>
                <a:spcPts val="700"/>
              </a:spcBef>
            </a:pPr>
            <a:r>
              <a:rPr sz="1700">
                <a:solidFill>
                  <a:srgbClr val="2D2D32"/>
                </a:solidFill>
              </a:rPr>
              <a:t>Paid Ads and Influencer campaigns</a:t>
            </a:r>
          </a:p>
        </p:txBody>
      </p:sp>
      <p:sp>
        <p:nvSpPr>
          <p:cNvPr id="16" name="Rounded Rectangle 15"/>
          <p:cNvSpPr/>
          <p:nvPr/>
        </p:nvSpPr>
        <p:spPr>
          <a:xfrm>
            <a:off x="6172200" y="3063240"/>
            <a:ext cx="5349240" cy="16916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63240"/>
            <a:ext cx="73152" cy="169164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73368" y="3209544"/>
            <a:ext cx="4983479" cy="1417320"/>
          </a:xfrm>
          <a:prstGeom prst="rect">
            <a:avLst/>
          </a:prstGeom>
          <a:noFill/>
        </p:spPr>
        <p:txBody>
          <a:bodyPr wrap="square">
            <a:spAutoFit/>
          </a:bodyPr>
          <a:lstStyle/>
          <a:p>
            <a:r>
              <a:rPr sz="1500" b="1">
                <a:solidFill>
                  <a:srgbClr val="1C345B"/>
                </a:solidFill>
              </a:rPr>
              <a:t>Watch-out</a:t>
            </a:r>
          </a:p>
          <a:p>
            <a:pPr>
              <a:spcBef>
                <a:spcPts val="700"/>
              </a:spcBef>
            </a:pPr>
            <a:r>
              <a:rPr sz="1500">
                <a:solidFill>
                  <a:srgbClr val="2D2D32"/>
                </a:solidFill>
              </a:rPr>
              <a:t>Email had relatively low ROI despite high spend and low revenue at the campaign-type level.</a:t>
            </a:r>
          </a:p>
        </p:txBody>
      </p:sp>
      <p:sp>
        <p:nvSpPr>
          <p:cNvPr id="19" name="Rounded Rectangle 18"/>
          <p:cNvSpPr/>
          <p:nvPr/>
        </p:nvSpPr>
        <p:spPr>
          <a:xfrm>
            <a:off x="685800" y="5074920"/>
            <a:ext cx="10835640" cy="857504"/>
          </a:xfrm>
          <a:prstGeom prst="roundRect">
            <a:avLst/>
          </a:prstGeom>
          <a:solidFill>
            <a:srgbClr val="FF1774"/>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5074920"/>
            <a:ext cx="73152" cy="857504"/>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5221224"/>
            <a:ext cx="10469880" cy="612988"/>
          </a:xfrm>
          <a:prstGeom prst="rect">
            <a:avLst/>
          </a:prstGeom>
          <a:noFill/>
        </p:spPr>
        <p:txBody>
          <a:bodyPr wrap="square">
            <a:spAutoFit/>
          </a:bodyPr>
          <a:lstStyle/>
          <a:p>
            <a:r>
              <a:rPr sz="1500" b="1" dirty="0">
                <a:solidFill>
                  <a:schemeClr val="bg1"/>
                </a:solidFill>
              </a:rPr>
              <a:t>Takeaway</a:t>
            </a:r>
          </a:p>
          <a:p>
            <a:pPr>
              <a:spcBef>
                <a:spcPts val="700"/>
              </a:spcBef>
            </a:pPr>
            <a:r>
              <a:rPr sz="1300" dirty="0">
                <a:solidFill>
                  <a:schemeClr val="bg1"/>
                </a:solidFill>
              </a:rPr>
              <a:t>Strong performance is concentrated in Social Media, Paid Ads and Influencer, but spend efficiency still needs to be evaluated campaign by campaign.</a:t>
            </a:r>
          </a:p>
        </p:txBody>
      </p:sp>
      <p:sp>
        <p:nvSpPr>
          <p:cNvPr id="22" name="Rectangle 21"/>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24" name="TextBox 23"/>
          <p:cNvSpPr txBox="1"/>
          <p:nvPr/>
        </p:nvSpPr>
        <p:spPr>
          <a:xfrm>
            <a:off x="11155680" y="6547104"/>
            <a:ext cx="365760" cy="182880"/>
          </a:xfrm>
          <a:prstGeom prst="rect">
            <a:avLst/>
          </a:prstGeom>
          <a:noFill/>
        </p:spPr>
        <p:txBody>
          <a:bodyPr wrap="none">
            <a:spAutoFit/>
          </a:bodyPr>
          <a:lstStyle/>
          <a:p>
            <a:pPr algn="r"/>
            <a:r>
              <a:rPr sz="800">
                <a:solidFill>
                  <a:srgbClr val="646973"/>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B119E9-335F-0F6E-D620-A53829C56D79}"/>
              </a:ext>
            </a:extLst>
          </p:cNvPr>
          <p:cNvPicPr>
            <a:picLocks noChangeAspect="1"/>
          </p:cNvPicPr>
          <p:nvPr/>
        </p:nvPicPr>
        <p:blipFill>
          <a:blip r:embed="rId2"/>
          <a:stretch>
            <a:fillRect/>
          </a:stretch>
        </p:blipFill>
        <p:spPr>
          <a:xfrm>
            <a:off x="1408353" y="1154990"/>
            <a:ext cx="9240540" cy="4163006"/>
          </a:xfrm>
          <a:prstGeom prst="rect">
            <a:avLst/>
          </a:prstGeom>
        </p:spPr>
      </p:pic>
      <p:sp>
        <p:nvSpPr>
          <p:cNvPr id="7" name="TextBox 6">
            <a:extLst>
              <a:ext uri="{FF2B5EF4-FFF2-40B4-BE49-F238E27FC236}">
                <a16:creationId xmlns:a16="http://schemas.microsoft.com/office/drawing/2014/main" id="{C21E2A03-C085-2340-EC54-FA87BC0F7AA4}"/>
              </a:ext>
            </a:extLst>
          </p:cNvPr>
          <p:cNvSpPr txBox="1"/>
          <p:nvPr/>
        </p:nvSpPr>
        <p:spPr>
          <a:xfrm>
            <a:off x="594360" y="320040"/>
            <a:ext cx="3662862" cy="507831"/>
          </a:xfrm>
          <a:prstGeom prst="rect">
            <a:avLst/>
          </a:prstGeom>
          <a:noFill/>
        </p:spPr>
        <p:txBody>
          <a:bodyPr wrap="none">
            <a:spAutoFit/>
          </a:bodyPr>
          <a:lstStyle/>
          <a:p>
            <a:r>
              <a:rPr sz="2700" b="1" dirty="0">
                <a:solidFill>
                  <a:srgbClr val="1C345B"/>
                </a:solidFill>
              </a:rPr>
              <a:t> </a:t>
            </a:r>
            <a:r>
              <a:rPr lang="en-IN" sz="2000" b="1" dirty="0">
                <a:solidFill>
                  <a:srgbClr val="1C345B"/>
                </a:solidFill>
              </a:rPr>
              <a:t>Average ROI per Campaign Type</a:t>
            </a:r>
            <a:endParaRPr sz="2000" b="1" dirty="0">
              <a:solidFill>
                <a:srgbClr val="1C345B"/>
              </a:solidFill>
            </a:endParaRPr>
          </a:p>
        </p:txBody>
      </p:sp>
    </p:spTree>
    <p:extLst>
      <p:ext uri="{BB962C8B-B14F-4D97-AF65-F5344CB8AC3E}">
        <p14:creationId xmlns:p14="http://schemas.microsoft.com/office/powerpoint/2010/main" val="2955246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4. Top vs Bottom Campaigns</a:t>
            </a:r>
          </a:p>
        </p:txBody>
      </p:sp>
      <p:sp>
        <p:nvSpPr>
          <p:cNvPr id="4" name="Rounded Rectangle 3"/>
          <p:cNvSpPr/>
          <p:nvPr/>
        </p:nvSpPr>
        <p:spPr>
          <a:xfrm>
            <a:off x="685800" y="1234440"/>
            <a:ext cx="5303520" cy="35661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35661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4937759" cy="3291840"/>
          </a:xfrm>
          <a:prstGeom prst="rect">
            <a:avLst/>
          </a:prstGeom>
          <a:noFill/>
        </p:spPr>
        <p:txBody>
          <a:bodyPr wrap="square">
            <a:spAutoFit/>
          </a:bodyPr>
          <a:lstStyle/>
          <a:p>
            <a:r>
              <a:rPr sz="1500" b="1" dirty="0">
                <a:solidFill>
                  <a:srgbClr val="1C345B"/>
                </a:solidFill>
              </a:rPr>
              <a:t>Top 10 ROI campaigns</a:t>
            </a:r>
          </a:p>
          <a:p>
            <a:pPr>
              <a:spcBef>
                <a:spcPts val="700"/>
              </a:spcBef>
            </a:pPr>
            <a:r>
              <a:rPr sz="1400" dirty="0">
                <a:solidFill>
                  <a:srgbClr val="2D2D32"/>
                </a:solidFill>
              </a:rPr>
              <a:t>• Mainly Paid Ads, followed by Influencer
• Target audiences: mainly Premium Shoppers and Youth
• Duration: 20–30 days
• Engagement Score: 24–30
• Channels: mainly Facebook and WhatsApp
• Conversion Rate: around 5.5%</a:t>
            </a:r>
          </a:p>
        </p:txBody>
      </p:sp>
      <p:sp>
        <p:nvSpPr>
          <p:cNvPr id="7" name="Rounded Rectangle 6"/>
          <p:cNvSpPr/>
          <p:nvPr/>
        </p:nvSpPr>
        <p:spPr>
          <a:xfrm>
            <a:off x="6172200" y="1234440"/>
            <a:ext cx="5303520" cy="35661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234440"/>
            <a:ext cx="73152" cy="356616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380744"/>
            <a:ext cx="4937759" cy="3291840"/>
          </a:xfrm>
          <a:prstGeom prst="rect">
            <a:avLst/>
          </a:prstGeom>
          <a:noFill/>
        </p:spPr>
        <p:txBody>
          <a:bodyPr wrap="square">
            <a:spAutoFit/>
          </a:bodyPr>
          <a:lstStyle/>
          <a:p>
            <a:r>
              <a:rPr sz="1500" b="1">
                <a:solidFill>
                  <a:srgbClr val="1C345B"/>
                </a:solidFill>
              </a:rPr>
              <a:t>Bottom 10 ROI campaigns</a:t>
            </a:r>
          </a:p>
          <a:p>
            <a:pPr>
              <a:spcBef>
                <a:spcPts val="700"/>
              </a:spcBef>
            </a:pPr>
            <a:r>
              <a:rPr sz="1400">
                <a:solidFill>
                  <a:srgbClr val="2D2D32"/>
                </a:solidFill>
              </a:rPr>
              <a:t>• Negative ROI
• Campaign types: Social Media, Paid Ads and Email
• Low revenue
• Engagement Score: 2–6
• Target audiences: mainly Tier 2 City Customers and Premium Shoppers
• Channels: mainly Google and YouTube
• Conversion Rate: around 0.2%</a:t>
            </a:r>
          </a:p>
        </p:txBody>
      </p:sp>
      <p:sp>
        <p:nvSpPr>
          <p:cNvPr id="10" name="Rounded Rectangle 9"/>
          <p:cNvSpPr/>
          <p:nvPr/>
        </p:nvSpPr>
        <p:spPr>
          <a:xfrm>
            <a:off x="685800" y="5074920"/>
            <a:ext cx="10789920" cy="850392"/>
          </a:xfrm>
          <a:prstGeom prst="roundRect">
            <a:avLst/>
          </a:prstGeom>
          <a:solidFill>
            <a:srgbClr val="FF1774"/>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5091854"/>
            <a:ext cx="73152" cy="77724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5221224"/>
            <a:ext cx="10424160" cy="612988"/>
          </a:xfrm>
          <a:prstGeom prst="rect">
            <a:avLst/>
          </a:prstGeom>
          <a:noFill/>
        </p:spPr>
        <p:txBody>
          <a:bodyPr wrap="square">
            <a:spAutoFit/>
          </a:bodyPr>
          <a:lstStyle/>
          <a:p>
            <a:r>
              <a:rPr sz="1500" b="1" dirty="0">
                <a:solidFill>
                  <a:schemeClr val="bg1"/>
                </a:solidFill>
              </a:rPr>
              <a:t>Implication</a:t>
            </a:r>
          </a:p>
          <a:p>
            <a:pPr>
              <a:spcBef>
                <a:spcPts val="700"/>
              </a:spcBef>
            </a:pPr>
            <a:r>
              <a:rPr sz="1300" dirty="0">
                <a:solidFill>
                  <a:schemeClr val="bg1"/>
                </a:solidFill>
              </a:rPr>
              <a:t>High-performing campaigns combine stronger engagement and conversion efficiency; weak campaigns should be reviewed before additional spend</a:t>
            </a:r>
            <a:r>
              <a:rPr sz="1300" dirty="0">
                <a:solidFill>
                  <a:srgbClr val="2D2D32"/>
                </a:solidFill>
              </a:rPr>
              <a:t>.</a:t>
            </a:r>
          </a:p>
        </p:txBody>
      </p:sp>
      <p:sp>
        <p:nvSpPr>
          <p:cNvPr id="13" name="Rectangle 12"/>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5" name="TextBox 14"/>
          <p:cNvSpPr txBox="1"/>
          <p:nvPr/>
        </p:nvSpPr>
        <p:spPr>
          <a:xfrm>
            <a:off x="11155680" y="6547104"/>
            <a:ext cx="365760" cy="182880"/>
          </a:xfrm>
          <a:prstGeom prst="rect">
            <a:avLst/>
          </a:prstGeom>
          <a:noFill/>
        </p:spPr>
        <p:txBody>
          <a:bodyPr wrap="none">
            <a:spAutoFit/>
          </a:bodyPr>
          <a:lstStyle/>
          <a:p>
            <a:pPr algn="r"/>
            <a:r>
              <a:rPr sz="800">
                <a:solidFill>
                  <a:srgbClr val="646973"/>
                </a:solidFil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5. Funnel Analysis — Where Are Users Dropping Off?</a:t>
            </a:r>
          </a:p>
        </p:txBody>
      </p:sp>
      <p:sp>
        <p:nvSpPr>
          <p:cNvPr id="4" name="Rounded Rectangle 3"/>
          <p:cNvSpPr/>
          <p:nvPr/>
        </p:nvSpPr>
        <p:spPr>
          <a:xfrm>
            <a:off x="822960" y="1325880"/>
            <a:ext cx="9601200" cy="594360"/>
          </a:xfrm>
          <a:prstGeom prst="roundRect">
            <a:avLst/>
          </a:prstGeom>
          <a:solidFill>
            <a:srgbClr val="FF1774"/>
          </a:solidFill>
          <a:ln>
            <a:solidFill>
              <a:srgbClr val="CDD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7970" y="1399032"/>
            <a:ext cx="1731180" cy="307777"/>
          </a:xfrm>
          <a:prstGeom prst="rect">
            <a:avLst/>
          </a:prstGeom>
          <a:noFill/>
        </p:spPr>
        <p:txBody>
          <a:bodyPr wrap="none">
            <a:spAutoFit/>
          </a:bodyPr>
          <a:lstStyle/>
          <a:p>
            <a:pPr algn="ctr"/>
            <a:r>
              <a:rPr sz="1400" b="1" dirty="0">
                <a:solidFill>
                  <a:schemeClr val="bg1"/>
                </a:solidFill>
              </a:rPr>
              <a:t>Impressions  |  100%</a:t>
            </a:r>
          </a:p>
        </p:txBody>
      </p:sp>
      <p:sp>
        <p:nvSpPr>
          <p:cNvPr id="6" name="Rounded Rectangle 5"/>
          <p:cNvSpPr/>
          <p:nvPr/>
        </p:nvSpPr>
        <p:spPr>
          <a:xfrm>
            <a:off x="2606040" y="2148840"/>
            <a:ext cx="6035040" cy="594360"/>
          </a:xfrm>
          <a:prstGeom prst="roundRect">
            <a:avLst/>
          </a:prstGeom>
          <a:solidFill>
            <a:srgbClr val="FF1774"/>
          </a:solidFill>
          <a:ln>
            <a:solidFill>
              <a:srgbClr val="CDD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56541" y="2221992"/>
            <a:ext cx="2334037" cy="307777"/>
          </a:xfrm>
          <a:prstGeom prst="rect">
            <a:avLst/>
          </a:prstGeom>
          <a:noFill/>
        </p:spPr>
        <p:txBody>
          <a:bodyPr wrap="none">
            <a:spAutoFit/>
          </a:bodyPr>
          <a:lstStyle/>
          <a:p>
            <a:pPr algn="ctr"/>
            <a:r>
              <a:rPr sz="1400" b="1" dirty="0">
                <a:solidFill>
                  <a:schemeClr val="bg1"/>
                </a:solidFill>
              </a:rPr>
              <a:t>Clicks  |  8.5% of impressions</a:t>
            </a:r>
          </a:p>
        </p:txBody>
      </p:sp>
      <p:sp>
        <p:nvSpPr>
          <p:cNvPr id="8" name="Rounded Rectangle 7"/>
          <p:cNvSpPr/>
          <p:nvPr/>
        </p:nvSpPr>
        <p:spPr>
          <a:xfrm>
            <a:off x="3520440" y="2971800"/>
            <a:ext cx="4206240" cy="594360"/>
          </a:xfrm>
          <a:prstGeom prst="roundRect">
            <a:avLst/>
          </a:prstGeom>
          <a:solidFill>
            <a:srgbClr val="FF1774"/>
          </a:solidFill>
          <a:ln>
            <a:solidFill>
              <a:srgbClr val="CDD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80770" y="3044952"/>
            <a:ext cx="1885580" cy="307777"/>
          </a:xfrm>
          <a:prstGeom prst="rect">
            <a:avLst/>
          </a:prstGeom>
          <a:noFill/>
        </p:spPr>
        <p:txBody>
          <a:bodyPr wrap="none">
            <a:spAutoFit/>
          </a:bodyPr>
          <a:lstStyle/>
          <a:p>
            <a:pPr algn="ctr"/>
            <a:r>
              <a:rPr sz="1400" b="1">
                <a:solidFill>
                  <a:schemeClr val="bg1"/>
                </a:solidFill>
              </a:rPr>
              <a:t>Leads  |  &gt;40% of clicks</a:t>
            </a:r>
          </a:p>
        </p:txBody>
      </p:sp>
      <p:sp>
        <p:nvSpPr>
          <p:cNvPr id="10" name="Rounded Rectangle 9"/>
          <p:cNvSpPr/>
          <p:nvPr/>
        </p:nvSpPr>
        <p:spPr>
          <a:xfrm>
            <a:off x="4343400" y="3794760"/>
            <a:ext cx="2560320" cy="594360"/>
          </a:xfrm>
          <a:prstGeom prst="roundRect">
            <a:avLst/>
          </a:prstGeom>
          <a:solidFill>
            <a:srgbClr val="FF1774"/>
          </a:solidFill>
          <a:ln>
            <a:solidFill>
              <a:srgbClr val="CDD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4391" y="3867912"/>
            <a:ext cx="2358338" cy="307777"/>
          </a:xfrm>
          <a:prstGeom prst="rect">
            <a:avLst/>
          </a:prstGeom>
          <a:noFill/>
        </p:spPr>
        <p:txBody>
          <a:bodyPr wrap="none">
            <a:spAutoFit/>
          </a:bodyPr>
          <a:lstStyle/>
          <a:p>
            <a:pPr algn="ctr"/>
            <a:r>
              <a:rPr sz="1400" b="1">
                <a:solidFill>
                  <a:schemeClr val="bg1"/>
                </a:solidFill>
              </a:rPr>
              <a:t>Conversions  |  &gt;55% of leads</a:t>
            </a:r>
          </a:p>
        </p:txBody>
      </p:sp>
      <p:sp>
        <p:nvSpPr>
          <p:cNvPr id="12" name="Rounded Rectangle 11"/>
          <p:cNvSpPr/>
          <p:nvPr/>
        </p:nvSpPr>
        <p:spPr>
          <a:xfrm>
            <a:off x="822960" y="4709160"/>
            <a:ext cx="10607040" cy="9601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4709160"/>
            <a:ext cx="73152" cy="96012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4855464"/>
            <a:ext cx="10241280" cy="685800"/>
          </a:xfrm>
          <a:prstGeom prst="rect">
            <a:avLst/>
          </a:prstGeom>
          <a:noFill/>
        </p:spPr>
        <p:txBody>
          <a:bodyPr wrap="square">
            <a:spAutoFit/>
          </a:bodyPr>
          <a:lstStyle/>
          <a:p>
            <a:r>
              <a:rPr sz="1500" b="1" dirty="0">
                <a:solidFill>
                  <a:srgbClr val="1C345B"/>
                </a:solidFill>
              </a:rPr>
              <a:t>Key finding</a:t>
            </a:r>
          </a:p>
          <a:p>
            <a:pPr>
              <a:spcBef>
                <a:spcPts val="700"/>
              </a:spcBef>
            </a:pPr>
            <a:r>
              <a:rPr sz="1500" dirty="0">
                <a:solidFill>
                  <a:srgbClr val="2D2D32"/>
                </a:solidFill>
              </a:rPr>
              <a:t>The biggest opportunity is the awareness-to-click stage. Later funnel stages are comparatively stronger.</a:t>
            </a:r>
          </a:p>
        </p:txBody>
      </p:sp>
      <p:sp>
        <p:nvSpPr>
          <p:cNvPr id="15" name="Rectangle 14"/>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7" name="TextBox 16"/>
          <p:cNvSpPr txBox="1"/>
          <p:nvPr/>
        </p:nvSpPr>
        <p:spPr>
          <a:xfrm>
            <a:off x="11155680" y="6547104"/>
            <a:ext cx="365760" cy="182880"/>
          </a:xfrm>
          <a:prstGeom prst="rect">
            <a:avLst/>
          </a:prstGeom>
          <a:noFill/>
        </p:spPr>
        <p:txBody>
          <a:bodyPr wrap="none">
            <a:spAutoFit/>
          </a:bodyPr>
          <a:lstStyle/>
          <a:p>
            <a:pPr algn="r"/>
            <a:r>
              <a:rPr sz="800">
                <a:solidFill>
                  <a:srgbClr val="646973"/>
                </a:solidFil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6. CTR, Engagement &amp; Conversion</a:t>
            </a:r>
          </a:p>
        </p:txBody>
      </p:sp>
      <p:sp>
        <p:nvSpPr>
          <p:cNvPr id="4" name="Rounded Rectangle 3"/>
          <p:cNvSpPr/>
          <p:nvPr/>
        </p:nvSpPr>
        <p:spPr>
          <a:xfrm>
            <a:off x="685800" y="1234440"/>
            <a:ext cx="5257800" cy="19659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19659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4892040" cy="1691639"/>
          </a:xfrm>
          <a:prstGeom prst="rect">
            <a:avLst/>
          </a:prstGeom>
          <a:noFill/>
        </p:spPr>
        <p:txBody>
          <a:bodyPr wrap="square">
            <a:spAutoFit/>
          </a:bodyPr>
          <a:lstStyle/>
          <a:p>
            <a:r>
              <a:rPr sz="1500" b="1">
                <a:solidFill>
                  <a:srgbClr val="1C345B"/>
                </a:solidFill>
              </a:rPr>
              <a:t>CTR → Conversion</a:t>
            </a:r>
          </a:p>
          <a:p>
            <a:pPr>
              <a:spcBef>
                <a:spcPts val="700"/>
              </a:spcBef>
            </a:pPr>
            <a:r>
              <a:rPr sz="1600">
                <a:solidFill>
                  <a:srgbClr val="2D2D32"/>
                </a:solidFill>
              </a:rPr>
              <a:t>Correlation = 0.714, indicating a strong positive relationship. Higher CTR generally coincides with higher Conversion Rate.</a:t>
            </a:r>
          </a:p>
        </p:txBody>
      </p:sp>
      <p:sp>
        <p:nvSpPr>
          <p:cNvPr id="7" name="Rounded Rectangle 6"/>
          <p:cNvSpPr/>
          <p:nvPr/>
        </p:nvSpPr>
        <p:spPr>
          <a:xfrm>
            <a:off x="6172200" y="1234440"/>
            <a:ext cx="5303520" cy="19659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234440"/>
            <a:ext cx="73152" cy="196596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380744"/>
            <a:ext cx="4937759" cy="1691639"/>
          </a:xfrm>
          <a:prstGeom prst="rect">
            <a:avLst/>
          </a:prstGeom>
          <a:noFill/>
        </p:spPr>
        <p:txBody>
          <a:bodyPr wrap="square">
            <a:spAutoFit/>
          </a:bodyPr>
          <a:lstStyle/>
          <a:p>
            <a:r>
              <a:rPr sz="1500" b="1">
                <a:solidFill>
                  <a:srgbClr val="1C345B"/>
                </a:solidFill>
              </a:rPr>
              <a:t>Engagement → Conversion</a:t>
            </a:r>
          </a:p>
          <a:p>
            <a:pPr>
              <a:spcBef>
                <a:spcPts val="700"/>
              </a:spcBef>
            </a:pPr>
            <a:r>
              <a:rPr sz="1500">
                <a:solidFill>
                  <a:srgbClr val="2D2D32"/>
                </a:solidFill>
              </a:rPr>
              <a:t>Higher Engagement Score is associated with higher Conversion Rate. Campaigns around 25–30 engagement generally reached about 5–7% conversion.</a:t>
            </a:r>
          </a:p>
        </p:txBody>
      </p:sp>
      <p:sp>
        <p:nvSpPr>
          <p:cNvPr id="10" name="Rounded Rectangle 9"/>
          <p:cNvSpPr/>
          <p:nvPr/>
        </p:nvSpPr>
        <p:spPr>
          <a:xfrm>
            <a:off x="685800" y="3520440"/>
            <a:ext cx="10789920" cy="14173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520440"/>
            <a:ext cx="73152" cy="141732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666744"/>
            <a:ext cx="10424160" cy="1143000"/>
          </a:xfrm>
          <a:prstGeom prst="rect">
            <a:avLst/>
          </a:prstGeom>
          <a:noFill/>
        </p:spPr>
        <p:txBody>
          <a:bodyPr wrap="square">
            <a:spAutoFit/>
          </a:bodyPr>
          <a:lstStyle/>
          <a:p>
            <a:r>
              <a:rPr sz="1500" b="1">
                <a:solidFill>
                  <a:srgbClr val="1C345B"/>
                </a:solidFill>
              </a:rPr>
              <a:t>What this means</a:t>
            </a:r>
          </a:p>
          <a:p>
            <a:pPr>
              <a:spcBef>
                <a:spcPts val="700"/>
              </a:spcBef>
            </a:pPr>
            <a:r>
              <a:rPr sz="1600">
                <a:solidFill>
                  <a:srgbClr val="2D2D32"/>
                </a:solidFill>
              </a:rPr>
              <a:t>Better creatives and messaging can help win the click, but the goal should be qualified engagement and conversion—not clicks or engagement alone.</a:t>
            </a:r>
          </a:p>
        </p:txBody>
      </p:sp>
      <p:sp>
        <p:nvSpPr>
          <p:cNvPr id="13" name="Rounded Rectangle 12"/>
          <p:cNvSpPr/>
          <p:nvPr/>
        </p:nvSpPr>
        <p:spPr>
          <a:xfrm>
            <a:off x="685800" y="5166360"/>
            <a:ext cx="10789920" cy="819912"/>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5166360"/>
            <a:ext cx="73152" cy="83820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5312664"/>
            <a:ext cx="10424160" cy="411480"/>
          </a:xfrm>
          <a:prstGeom prst="rect">
            <a:avLst/>
          </a:prstGeom>
          <a:noFill/>
        </p:spPr>
        <p:txBody>
          <a:bodyPr wrap="square">
            <a:spAutoFit/>
          </a:bodyPr>
          <a:lstStyle/>
          <a:p>
            <a:r>
              <a:rPr sz="1500" b="1">
                <a:solidFill>
                  <a:srgbClr val="1C345B"/>
                </a:solidFill>
              </a:rPr>
              <a:t>Caution</a:t>
            </a:r>
          </a:p>
          <a:p>
            <a:pPr>
              <a:spcBef>
                <a:spcPts val="700"/>
              </a:spcBef>
            </a:pPr>
            <a:r>
              <a:rPr sz="1100">
                <a:solidFill>
                  <a:srgbClr val="2D2D32"/>
                </a:solidFill>
              </a:rPr>
              <a:t>These are associations; they do not prove that increasing CTR or engagement alone causes conversion to increase.</a:t>
            </a:r>
          </a:p>
        </p:txBody>
      </p:sp>
      <p:sp>
        <p:nvSpPr>
          <p:cNvPr id="16" name="Rectangle 15"/>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8" name="TextBox 17"/>
          <p:cNvSpPr txBox="1"/>
          <p:nvPr/>
        </p:nvSpPr>
        <p:spPr>
          <a:xfrm>
            <a:off x="11155680" y="6547104"/>
            <a:ext cx="365760" cy="182880"/>
          </a:xfrm>
          <a:prstGeom prst="rect">
            <a:avLst/>
          </a:prstGeom>
          <a:noFill/>
        </p:spPr>
        <p:txBody>
          <a:bodyPr wrap="none">
            <a:spAutoFit/>
          </a:bodyPr>
          <a:lstStyle/>
          <a:p>
            <a:pPr algn="r"/>
            <a:r>
              <a:rPr sz="800">
                <a:solidFill>
                  <a:srgbClr val="646973"/>
                </a:solidFill>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F4F7F-87B0-CE64-3364-67BE740BBD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F390EA4-A04F-3C91-D027-BBFBE7F2F5DC}"/>
              </a:ext>
            </a:extLst>
          </p:cNvPr>
          <p:cNvPicPr>
            <a:picLocks noChangeAspect="1"/>
          </p:cNvPicPr>
          <p:nvPr/>
        </p:nvPicPr>
        <p:blipFill>
          <a:blip r:embed="rId2"/>
          <a:stretch>
            <a:fillRect/>
          </a:stretch>
        </p:blipFill>
        <p:spPr>
          <a:xfrm>
            <a:off x="987123" y="664143"/>
            <a:ext cx="10019899" cy="5380522"/>
          </a:xfrm>
          <a:prstGeom prst="rect">
            <a:avLst/>
          </a:prstGeom>
        </p:spPr>
      </p:pic>
    </p:spTree>
    <p:extLst>
      <p:ext uri="{BB962C8B-B14F-4D97-AF65-F5344CB8AC3E}">
        <p14:creationId xmlns:p14="http://schemas.microsoft.com/office/powerpoint/2010/main" val="1342211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7. Customer &amp; Audience Segmentation</a:t>
            </a:r>
          </a:p>
        </p:txBody>
      </p:sp>
      <p:sp>
        <p:nvSpPr>
          <p:cNvPr id="4" name="Rounded Rectangle 3"/>
          <p:cNvSpPr/>
          <p:nvPr/>
        </p:nvSpPr>
        <p:spPr>
          <a:xfrm>
            <a:off x="685800" y="1234440"/>
            <a:ext cx="3429000" cy="19202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192024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3063240" cy="1645920"/>
          </a:xfrm>
          <a:prstGeom prst="rect">
            <a:avLst/>
          </a:prstGeom>
          <a:noFill/>
        </p:spPr>
        <p:txBody>
          <a:bodyPr wrap="square">
            <a:spAutoFit/>
          </a:bodyPr>
          <a:lstStyle/>
          <a:p>
            <a:r>
              <a:rPr sz="1500" b="1">
                <a:solidFill>
                  <a:srgbClr val="1C345B"/>
                </a:solidFill>
              </a:rPr>
              <a:t>Most valuable segments</a:t>
            </a:r>
          </a:p>
          <a:p>
            <a:pPr>
              <a:spcBef>
                <a:spcPts val="700"/>
              </a:spcBef>
            </a:pPr>
            <a:r>
              <a:rPr sz="1400">
                <a:solidFill>
                  <a:srgbClr val="2D2D32"/>
                </a:solidFill>
              </a:rPr>
              <a:t>Working Women and Premium Shoppers showed the highest ROI, Conversion Rate and Engagement. Working Women also generated the highest revenue.</a:t>
            </a:r>
          </a:p>
        </p:txBody>
      </p:sp>
      <p:sp>
        <p:nvSpPr>
          <p:cNvPr id="7" name="Rounded Rectangle 6"/>
          <p:cNvSpPr/>
          <p:nvPr/>
        </p:nvSpPr>
        <p:spPr>
          <a:xfrm>
            <a:off x="4389120" y="1234440"/>
            <a:ext cx="3429000" cy="19202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0" y="1234440"/>
            <a:ext cx="73152" cy="192024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0288" y="1380744"/>
            <a:ext cx="3063240" cy="1645920"/>
          </a:xfrm>
          <a:prstGeom prst="rect">
            <a:avLst/>
          </a:prstGeom>
          <a:noFill/>
        </p:spPr>
        <p:txBody>
          <a:bodyPr wrap="square">
            <a:spAutoFit/>
          </a:bodyPr>
          <a:lstStyle/>
          <a:p>
            <a:r>
              <a:rPr sz="1500" b="1">
                <a:solidFill>
                  <a:srgbClr val="1C345B"/>
                </a:solidFill>
              </a:rPr>
              <a:t>Tier 2 City Customers</a:t>
            </a:r>
          </a:p>
          <a:p>
            <a:pPr>
              <a:spcBef>
                <a:spcPts val="700"/>
              </a:spcBef>
            </a:pPr>
            <a:r>
              <a:rPr sz="1400">
                <a:solidFill>
                  <a:srgbClr val="2D2D32"/>
                </a:solidFill>
              </a:rPr>
              <a:t>Showed high engagement and Conversion Rate, suggesting potential value even if they were not the top ROI segment.</a:t>
            </a:r>
          </a:p>
        </p:txBody>
      </p:sp>
      <p:sp>
        <p:nvSpPr>
          <p:cNvPr id="10" name="Rounded Rectangle 9"/>
          <p:cNvSpPr/>
          <p:nvPr/>
        </p:nvSpPr>
        <p:spPr>
          <a:xfrm>
            <a:off x="8092440" y="1234440"/>
            <a:ext cx="3429000" cy="19202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92440" y="1234440"/>
            <a:ext cx="73152" cy="192024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93608" y="1380744"/>
            <a:ext cx="3063240" cy="1645920"/>
          </a:xfrm>
          <a:prstGeom prst="rect">
            <a:avLst/>
          </a:prstGeom>
          <a:noFill/>
        </p:spPr>
        <p:txBody>
          <a:bodyPr wrap="square">
            <a:spAutoFit/>
          </a:bodyPr>
          <a:lstStyle/>
          <a:p>
            <a:r>
              <a:rPr sz="1500" b="1">
                <a:solidFill>
                  <a:srgbClr val="1C345B"/>
                </a:solidFill>
              </a:rPr>
              <a:t>Youth</a:t>
            </a:r>
          </a:p>
          <a:p>
            <a:pPr>
              <a:spcBef>
                <a:spcPts val="700"/>
              </a:spcBef>
            </a:pPr>
            <a:r>
              <a:rPr sz="1400">
                <a:solidFill>
                  <a:srgbClr val="2D2D32"/>
                </a:solidFill>
              </a:rPr>
              <a:t>Showed lower ROI, Conversion Rate, Engagement and revenue generation.</a:t>
            </a:r>
          </a:p>
        </p:txBody>
      </p:sp>
      <p:sp>
        <p:nvSpPr>
          <p:cNvPr id="13" name="Rounded Rectangle 12"/>
          <p:cNvSpPr/>
          <p:nvPr/>
        </p:nvSpPr>
        <p:spPr>
          <a:xfrm>
            <a:off x="685800" y="3474720"/>
            <a:ext cx="10835640" cy="14630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474720"/>
            <a:ext cx="73152" cy="146304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621024"/>
            <a:ext cx="10469880" cy="1188720"/>
          </a:xfrm>
          <a:prstGeom prst="rect">
            <a:avLst/>
          </a:prstGeom>
          <a:noFill/>
        </p:spPr>
        <p:txBody>
          <a:bodyPr wrap="square">
            <a:spAutoFit/>
          </a:bodyPr>
          <a:lstStyle/>
          <a:p>
            <a:r>
              <a:rPr sz="1500" b="1">
                <a:solidFill>
                  <a:srgbClr val="1C345B"/>
                </a:solidFill>
              </a:rPr>
              <a:t>Strategy</a:t>
            </a:r>
          </a:p>
          <a:p>
            <a:pPr>
              <a:spcBef>
                <a:spcPts val="700"/>
              </a:spcBef>
            </a:pPr>
            <a:r>
              <a:rPr sz="1600">
                <a:solidFill>
                  <a:srgbClr val="2D2D32"/>
                </a:solidFill>
              </a:rPr>
              <a:t>Prioritize Working Women and Premium Shoppers for efficient growth, while diagnosing the creative, offer and targeting issues behind weaker Youth performance.</a:t>
            </a:r>
          </a:p>
        </p:txBody>
      </p:sp>
      <p:sp>
        <p:nvSpPr>
          <p:cNvPr id="16" name="Rectangle 15"/>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8" name="TextBox 17"/>
          <p:cNvSpPr txBox="1"/>
          <p:nvPr/>
        </p:nvSpPr>
        <p:spPr>
          <a:xfrm>
            <a:off x="11155680" y="6547104"/>
            <a:ext cx="365760" cy="182880"/>
          </a:xfrm>
          <a:prstGeom prst="rect">
            <a:avLst/>
          </a:prstGeom>
          <a:noFill/>
        </p:spPr>
        <p:txBody>
          <a:bodyPr wrap="none">
            <a:spAutoFit/>
          </a:bodyPr>
          <a:lstStyle/>
          <a:p>
            <a:pPr algn="r"/>
            <a:r>
              <a:rPr sz="800">
                <a:solidFill>
                  <a:srgbClr val="646973"/>
                </a:solidFill>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A7B8B8-8B04-53C0-6D64-717E696FE60E}"/>
              </a:ext>
            </a:extLst>
          </p:cNvPr>
          <p:cNvPicPr>
            <a:picLocks noChangeAspect="1"/>
          </p:cNvPicPr>
          <p:nvPr/>
        </p:nvPicPr>
        <p:blipFill>
          <a:blip r:embed="rId2"/>
          <a:stretch>
            <a:fillRect/>
          </a:stretch>
        </p:blipFill>
        <p:spPr>
          <a:xfrm>
            <a:off x="500742" y="1151717"/>
            <a:ext cx="11190516" cy="4554565"/>
          </a:xfrm>
          <a:prstGeom prst="rect">
            <a:avLst/>
          </a:prstGeom>
        </p:spPr>
      </p:pic>
    </p:spTree>
    <p:extLst>
      <p:ext uri="{BB962C8B-B14F-4D97-AF65-F5344CB8AC3E}">
        <p14:creationId xmlns:p14="http://schemas.microsoft.com/office/powerpoint/2010/main" val="2884650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8. Language &amp; Channel Performance</a:t>
            </a:r>
          </a:p>
        </p:txBody>
      </p:sp>
      <p:sp>
        <p:nvSpPr>
          <p:cNvPr id="4" name="Rounded Rectangle 3"/>
          <p:cNvSpPr/>
          <p:nvPr/>
        </p:nvSpPr>
        <p:spPr>
          <a:xfrm>
            <a:off x="685800" y="1234440"/>
            <a:ext cx="5257800" cy="201168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201168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4892040" cy="1737360"/>
          </a:xfrm>
          <a:prstGeom prst="rect">
            <a:avLst/>
          </a:prstGeom>
          <a:noFill/>
        </p:spPr>
        <p:txBody>
          <a:bodyPr wrap="square">
            <a:spAutoFit/>
          </a:bodyPr>
          <a:lstStyle/>
          <a:p>
            <a:r>
              <a:rPr sz="1500" b="1">
                <a:solidFill>
                  <a:srgbClr val="1C345B"/>
                </a:solidFill>
              </a:rPr>
              <a:t>Language</a:t>
            </a:r>
          </a:p>
          <a:p>
            <a:pPr>
              <a:spcBef>
                <a:spcPts val="700"/>
              </a:spcBef>
            </a:pPr>
            <a:r>
              <a:rPr sz="1500">
                <a:solidFill>
                  <a:srgbClr val="2D2D32"/>
                </a:solidFill>
              </a:rPr>
              <a:t>Hindi had the highest ROI, Conversion Rate, Revenue generation and CTR. English had the lowest Engagement Score, Conversion Rate and Revenue generation.</a:t>
            </a:r>
          </a:p>
        </p:txBody>
      </p:sp>
      <p:sp>
        <p:nvSpPr>
          <p:cNvPr id="7" name="Rounded Rectangle 6"/>
          <p:cNvSpPr/>
          <p:nvPr/>
        </p:nvSpPr>
        <p:spPr>
          <a:xfrm>
            <a:off x="6172200" y="1234440"/>
            <a:ext cx="5303520" cy="201168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234440"/>
            <a:ext cx="73152" cy="201168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380744"/>
            <a:ext cx="4937759" cy="1737360"/>
          </a:xfrm>
          <a:prstGeom prst="rect">
            <a:avLst/>
          </a:prstGeom>
          <a:noFill/>
        </p:spPr>
        <p:txBody>
          <a:bodyPr wrap="square">
            <a:spAutoFit/>
          </a:bodyPr>
          <a:lstStyle/>
          <a:p>
            <a:r>
              <a:rPr sz="1500" b="1">
                <a:solidFill>
                  <a:srgbClr val="1C345B"/>
                </a:solidFill>
              </a:rPr>
              <a:t>Channel associations</a:t>
            </a:r>
          </a:p>
          <a:p>
            <a:pPr>
              <a:spcBef>
                <a:spcPts val="700"/>
              </a:spcBef>
            </a:pPr>
            <a:r>
              <a:rPr sz="1500">
                <a:solidFill>
                  <a:srgbClr val="2D2D32"/>
                </a:solidFill>
              </a:rPr>
              <a:t>Instagram showed the highest ROI, Conversion Rate and Engagement. Instagram also generated the highest revenue, followed by YouTube and Google.</a:t>
            </a:r>
          </a:p>
        </p:txBody>
      </p:sp>
      <p:sp>
        <p:nvSpPr>
          <p:cNvPr id="10" name="Rounded Rectangle 9"/>
          <p:cNvSpPr/>
          <p:nvPr/>
        </p:nvSpPr>
        <p:spPr>
          <a:xfrm>
            <a:off x="685800" y="3611880"/>
            <a:ext cx="525780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611880"/>
            <a:ext cx="73152" cy="150876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758184"/>
            <a:ext cx="4892040" cy="1234439"/>
          </a:xfrm>
          <a:prstGeom prst="rect">
            <a:avLst/>
          </a:prstGeom>
          <a:noFill/>
        </p:spPr>
        <p:txBody>
          <a:bodyPr wrap="square">
            <a:spAutoFit/>
          </a:bodyPr>
          <a:lstStyle/>
          <a:p>
            <a:r>
              <a:rPr sz="1500" b="1">
                <a:solidFill>
                  <a:srgbClr val="1C345B"/>
                </a:solidFill>
              </a:rPr>
              <a:t>Channel watch-outs</a:t>
            </a:r>
          </a:p>
          <a:p>
            <a:pPr>
              <a:spcBef>
                <a:spcPts val="700"/>
              </a:spcBef>
            </a:pPr>
            <a:r>
              <a:rPr sz="1400">
                <a:solidFill>
                  <a:srgbClr val="2D2D32"/>
                </a:solidFill>
              </a:rPr>
              <a:t>Facebook had low ROI and the least revenue generation despite the most spend. WhatsApp showed the lowest ROI and Engagement.</a:t>
            </a:r>
          </a:p>
        </p:txBody>
      </p:sp>
      <p:sp>
        <p:nvSpPr>
          <p:cNvPr id="13" name="Rounded Rectangle 12"/>
          <p:cNvSpPr/>
          <p:nvPr/>
        </p:nvSpPr>
        <p:spPr>
          <a:xfrm>
            <a:off x="6172200" y="3611880"/>
            <a:ext cx="5303520" cy="15087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3611880"/>
            <a:ext cx="73152" cy="15087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3758184"/>
            <a:ext cx="4937759" cy="1234439"/>
          </a:xfrm>
          <a:prstGeom prst="rect">
            <a:avLst/>
          </a:prstGeom>
          <a:noFill/>
        </p:spPr>
        <p:txBody>
          <a:bodyPr wrap="square">
            <a:spAutoFit/>
          </a:bodyPr>
          <a:lstStyle/>
          <a:p>
            <a:r>
              <a:rPr sz="1500" b="1">
                <a:solidFill>
                  <a:srgbClr val="1C345B"/>
                </a:solidFill>
              </a:rPr>
              <a:t>Usage context</a:t>
            </a:r>
          </a:p>
          <a:p>
            <a:pPr>
              <a:spcBef>
                <a:spcPts val="700"/>
              </a:spcBef>
            </a:pPr>
            <a:r>
              <a:rPr sz="1400">
                <a:solidFill>
                  <a:srgbClr val="2D2D32"/>
                </a:solidFill>
              </a:rPr>
              <a:t>Google, WhatsApp and YouTube were the most used channels. Multi-channel campaigns were associated with higher ROI and revenue.</a:t>
            </a:r>
          </a:p>
        </p:txBody>
      </p:sp>
      <p:sp>
        <p:nvSpPr>
          <p:cNvPr id="16" name="Rounded Rectangle 15"/>
          <p:cNvSpPr/>
          <p:nvPr/>
        </p:nvSpPr>
        <p:spPr>
          <a:xfrm>
            <a:off x="685800" y="5349240"/>
            <a:ext cx="10789920" cy="832104"/>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 y="5361939"/>
            <a:ext cx="73151" cy="801189"/>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5495544"/>
            <a:ext cx="10424160" cy="320040"/>
          </a:xfrm>
          <a:prstGeom prst="rect">
            <a:avLst/>
          </a:prstGeom>
          <a:noFill/>
        </p:spPr>
        <p:txBody>
          <a:bodyPr wrap="square">
            <a:spAutoFit/>
          </a:bodyPr>
          <a:lstStyle/>
          <a:p>
            <a:r>
              <a:rPr sz="1500" b="1">
                <a:solidFill>
                  <a:srgbClr val="1C345B"/>
                </a:solidFill>
              </a:rPr>
              <a:t>Caution</a:t>
            </a:r>
          </a:p>
          <a:p>
            <a:pPr>
              <a:spcBef>
                <a:spcPts val="700"/>
              </a:spcBef>
            </a:pPr>
            <a:r>
              <a:rPr sz="1000">
                <a:solidFill>
                  <a:srgbClr val="2D2D32"/>
                </a:solidFill>
              </a:rPr>
              <a:t>Because campaigns can use multiple channels, channel-level results should be treated as associations rather than isolated channel causality.</a:t>
            </a:r>
          </a:p>
        </p:txBody>
      </p:sp>
      <p:sp>
        <p:nvSpPr>
          <p:cNvPr id="19" name="Rectangle 18"/>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21" name="TextBox 20"/>
          <p:cNvSpPr txBox="1"/>
          <p:nvPr/>
        </p:nvSpPr>
        <p:spPr>
          <a:xfrm>
            <a:off x="11155680" y="6547104"/>
            <a:ext cx="365760" cy="182880"/>
          </a:xfrm>
          <a:prstGeom prst="rect">
            <a:avLst/>
          </a:prstGeom>
          <a:noFill/>
        </p:spPr>
        <p:txBody>
          <a:bodyPr wrap="none">
            <a:spAutoFit/>
          </a:bodyPr>
          <a:lstStyle/>
          <a:p>
            <a:pPr algn="r"/>
            <a:r>
              <a:rPr sz="800">
                <a:solidFill>
                  <a:srgbClr val="646973"/>
                </a:solidFill>
              </a:rP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836F48-5276-70D1-7363-617D856427FF}"/>
              </a:ext>
            </a:extLst>
          </p:cNvPr>
          <p:cNvPicPr>
            <a:picLocks noChangeAspect="1"/>
          </p:cNvPicPr>
          <p:nvPr/>
        </p:nvPicPr>
        <p:blipFill>
          <a:blip r:embed="rId2"/>
          <a:stretch>
            <a:fillRect/>
          </a:stretch>
        </p:blipFill>
        <p:spPr>
          <a:xfrm>
            <a:off x="1557347" y="3450864"/>
            <a:ext cx="9143310" cy="2790255"/>
          </a:xfrm>
          <a:prstGeom prst="rect">
            <a:avLst/>
          </a:prstGeom>
        </p:spPr>
      </p:pic>
      <p:pic>
        <p:nvPicPr>
          <p:cNvPr id="5" name="Picture 4">
            <a:extLst>
              <a:ext uri="{FF2B5EF4-FFF2-40B4-BE49-F238E27FC236}">
                <a16:creationId xmlns:a16="http://schemas.microsoft.com/office/drawing/2014/main" id="{98003722-8C65-47B8-15E0-6993F30711A2}"/>
              </a:ext>
            </a:extLst>
          </p:cNvPr>
          <p:cNvPicPr>
            <a:picLocks noChangeAspect="1"/>
          </p:cNvPicPr>
          <p:nvPr/>
        </p:nvPicPr>
        <p:blipFill>
          <a:blip r:embed="rId3"/>
          <a:stretch>
            <a:fillRect/>
          </a:stretch>
        </p:blipFill>
        <p:spPr>
          <a:xfrm>
            <a:off x="1557347" y="400122"/>
            <a:ext cx="8729654" cy="2636182"/>
          </a:xfrm>
          <a:prstGeom prst="rect">
            <a:avLst/>
          </a:prstGeom>
        </p:spPr>
      </p:pic>
    </p:spTree>
    <p:extLst>
      <p:ext uri="{BB962C8B-B14F-4D97-AF65-F5344CB8AC3E}">
        <p14:creationId xmlns:p14="http://schemas.microsoft.com/office/powerpoint/2010/main" val="380466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9. Spend Efficiency</a:t>
            </a:r>
          </a:p>
        </p:txBody>
      </p:sp>
      <p:sp>
        <p:nvSpPr>
          <p:cNvPr id="4" name="Rounded Rectangle 3"/>
          <p:cNvSpPr/>
          <p:nvPr/>
        </p:nvSpPr>
        <p:spPr>
          <a:xfrm>
            <a:off x="685800" y="1234440"/>
            <a:ext cx="5257800" cy="1874519"/>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1874519"/>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4892040" cy="1600199"/>
          </a:xfrm>
          <a:prstGeom prst="rect">
            <a:avLst/>
          </a:prstGeom>
          <a:noFill/>
        </p:spPr>
        <p:txBody>
          <a:bodyPr wrap="square">
            <a:spAutoFit/>
          </a:bodyPr>
          <a:lstStyle/>
          <a:p>
            <a:r>
              <a:rPr sz="1500" b="1">
                <a:solidFill>
                  <a:srgbClr val="1C345B"/>
                </a:solidFill>
              </a:rPr>
              <a:t>Key observation</a:t>
            </a:r>
          </a:p>
          <a:p>
            <a:pPr>
              <a:spcBef>
                <a:spcPts val="700"/>
              </a:spcBef>
            </a:pPr>
            <a:r>
              <a:rPr sz="1600">
                <a:solidFill>
                  <a:srgbClr val="2D2D32"/>
                </a:solidFill>
              </a:rPr>
              <a:t>Higher spend did not consistently translate into higher revenue. Spend and ROI showed a clear negative relationship in the observed campaign data.</a:t>
            </a:r>
          </a:p>
        </p:txBody>
      </p:sp>
      <p:sp>
        <p:nvSpPr>
          <p:cNvPr id="7" name="Rounded Rectangle 6"/>
          <p:cNvSpPr/>
          <p:nvPr/>
        </p:nvSpPr>
        <p:spPr>
          <a:xfrm>
            <a:off x="6172200" y="1234440"/>
            <a:ext cx="5303520" cy="1874519"/>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234440"/>
            <a:ext cx="73152" cy="1874519"/>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380744"/>
            <a:ext cx="4937759" cy="1600199"/>
          </a:xfrm>
          <a:prstGeom prst="rect">
            <a:avLst/>
          </a:prstGeom>
          <a:noFill/>
        </p:spPr>
        <p:txBody>
          <a:bodyPr wrap="square">
            <a:spAutoFit/>
          </a:bodyPr>
          <a:lstStyle/>
          <a:p>
            <a:r>
              <a:rPr sz="1500" b="1">
                <a:solidFill>
                  <a:srgbClr val="1C345B"/>
                </a:solidFill>
              </a:rPr>
              <a:t>Efficient zone</a:t>
            </a:r>
          </a:p>
          <a:p>
            <a:pPr>
              <a:spcBef>
                <a:spcPts val="700"/>
              </a:spcBef>
            </a:pPr>
            <a:r>
              <a:rPr sz="1600">
                <a:solidFill>
                  <a:srgbClr val="2D2D32"/>
                </a:solidFill>
              </a:rPr>
              <a:t>Campaigns below roughly ₹175K spend tended to show higher ROI. Some campaigns around ₹50K–₹70K achieved ROI above 40–70.</a:t>
            </a:r>
          </a:p>
        </p:txBody>
      </p:sp>
      <p:sp>
        <p:nvSpPr>
          <p:cNvPr id="10" name="Rounded Rectangle 9"/>
          <p:cNvSpPr/>
          <p:nvPr/>
        </p:nvSpPr>
        <p:spPr>
          <a:xfrm>
            <a:off x="685800" y="3474720"/>
            <a:ext cx="10789920" cy="141732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474720"/>
            <a:ext cx="73152" cy="141732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621024"/>
            <a:ext cx="10424160" cy="1143000"/>
          </a:xfrm>
          <a:prstGeom prst="rect">
            <a:avLst/>
          </a:prstGeom>
          <a:noFill/>
        </p:spPr>
        <p:txBody>
          <a:bodyPr wrap="square">
            <a:spAutoFit/>
          </a:bodyPr>
          <a:lstStyle/>
          <a:p>
            <a:r>
              <a:rPr sz="1500" b="1">
                <a:solidFill>
                  <a:srgbClr val="1C345B"/>
                </a:solidFill>
              </a:rPr>
              <a:t>Decision rule</a:t>
            </a:r>
          </a:p>
          <a:p>
            <a:pPr>
              <a:spcBef>
                <a:spcPts val="700"/>
              </a:spcBef>
            </a:pPr>
            <a:r>
              <a:rPr sz="1500">
                <a:solidFill>
                  <a:srgbClr val="2D2D32"/>
                </a:solidFill>
              </a:rPr>
              <a:t>Scale campaigns that combine strong ROI, conversion efficiency and engagement; optimize mixed performers; review or discontinue persistent negative-ROI campaigns.</a:t>
            </a:r>
          </a:p>
        </p:txBody>
      </p:sp>
      <p:sp>
        <p:nvSpPr>
          <p:cNvPr id="13" name="Rounded Rectangle 12"/>
          <p:cNvSpPr/>
          <p:nvPr/>
        </p:nvSpPr>
        <p:spPr>
          <a:xfrm>
            <a:off x="685800" y="5166360"/>
            <a:ext cx="10789920" cy="68580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5166360"/>
            <a:ext cx="73152" cy="68580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5312664"/>
            <a:ext cx="10424160" cy="411480"/>
          </a:xfrm>
          <a:prstGeom prst="rect">
            <a:avLst/>
          </a:prstGeom>
          <a:noFill/>
        </p:spPr>
        <p:txBody>
          <a:bodyPr wrap="square">
            <a:spAutoFit/>
          </a:bodyPr>
          <a:lstStyle/>
          <a:p>
            <a:r>
              <a:rPr sz="1500" b="1">
                <a:solidFill>
                  <a:srgbClr val="1C345B"/>
                </a:solidFill>
              </a:rPr>
              <a:t>Important</a:t>
            </a:r>
          </a:p>
          <a:p>
            <a:pPr>
              <a:spcBef>
                <a:spcPts val="700"/>
              </a:spcBef>
            </a:pPr>
            <a:r>
              <a:rPr sz="1100">
                <a:solidFill>
                  <a:srgbClr val="2D2D32"/>
                </a:solidFill>
              </a:rPr>
              <a:t>Do not interpret the negative spend–ROI relationship as proof that reducing spend causes higher ROI; ROI mathematically depends on spend.</a:t>
            </a:r>
          </a:p>
        </p:txBody>
      </p:sp>
      <p:sp>
        <p:nvSpPr>
          <p:cNvPr id="16" name="Rectangle 15"/>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8" name="TextBox 17"/>
          <p:cNvSpPr txBox="1"/>
          <p:nvPr/>
        </p:nvSpPr>
        <p:spPr>
          <a:xfrm>
            <a:off x="11155680" y="6547104"/>
            <a:ext cx="365760" cy="182880"/>
          </a:xfrm>
          <a:prstGeom prst="rect">
            <a:avLst/>
          </a:prstGeom>
          <a:noFill/>
        </p:spPr>
        <p:txBody>
          <a:bodyPr wrap="none">
            <a:spAutoFit/>
          </a:bodyPr>
          <a:lstStyle/>
          <a:p>
            <a:pPr algn="r"/>
            <a:r>
              <a:rPr sz="800">
                <a:solidFill>
                  <a:srgbClr val="646973"/>
                </a:solidFill>
              </a:rPr>
              <a:t>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DB026A-4823-09FA-72EA-FAB1F4C8E11A}"/>
              </a:ext>
            </a:extLst>
          </p:cNvPr>
          <p:cNvPicPr>
            <a:picLocks noChangeAspect="1"/>
          </p:cNvPicPr>
          <p:nvPr/>
        </p:nvPicPr>
        <p:blipFill>
          <a:blip r:embed="rId2"/>
          <a:stretch>
            <a:fillRect/>
          </a:stretch>
        </p:blipFill>
        <p:spPr>
          <a:xfrm>
            <a:off x="1361414" y="447259"/>
            <a:ext cx="9469171" cy="5963482"/>
          </a:xfrm>
          <a:prstGeom prst="rect">
            <a:avLst/>
          </a:prstGeom>
        </p:spPr>
      </p:pic>
    </p:spTree>
    <p:extLst>
      <p:ext uri="{BB962C8B-B14F-4D97-AF65-F5344CB8AC3E}">
        <p14:creationId xmlns:p14="http://schemas.microsoft.com/office/powerpoint/2010/main" val="472640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10. Strategic Recommendations</a:t>
            </a:r>
          </a:p>
        </p:txBody>
      </p:sp>
      <p:sp>
        <p:nvSpPr>
          <p:cNvPr id="4" name="Rounded Rectangle 3"/>
          <p:cNvSpPr/>
          <p:nvPr/>
        </p:nvSpPr>
        <p:spPr>
          <a:xfrm>
            <a:off x="640080" y="1143000"/>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143000"/>
            <a:ext cx="73152" cy="10515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289304"/>
            <a:ext cx="4892040" cy="777239"/>
          </a:xfrm>
          <a:prstGeom prst="rect">
            <a:avLst/>
          </a:prstGeom>
          <a:noFill/>
        </p:spPr>
        <p:txBody>
          <a:bodyPr wrap="square">
            <a:spAutoFit/>
          </a:bodyPr>
          <a:lstStyle/>
          <a:p>
            <a:r>
              <a:rPr sz="1500" b="1">
                <a:solidFill>
                  <a:srgbClr val="1C345B"/>
                </a:solidFill>
              </a:rPr>
              <a:t>Scale efficient campaigns</a:t>
            </a:r>
          </a:p>
          <a:p>
            <a:pPr>
              <a:spcBef>
                <a:spcPts val="700"/>
              </a:spcBef>
            </a:pPr>
            <a:r>
              <a:rPr sz="1050">
                <a:solidFill>
                  <a:srgbClr val="2D2D32"/>
                </a:solidFill>
              </a:rPr>
              <a:t>Prioritize campaigns with strong ROI, conversion efficiency and engagement; use the top-performing Paid Ads, Influencer and Social Media patterns as benchmarks.</a:t>
            </a:r>
          </a:p>
        </p:txBody>
      </p:sp>
      <p:sp>
        <p:nvSpPr>
          <p:cNvPr id="7" name="Rounded Rectangle 6"/>
          <p:cNvSpPr/>
          <p:nvPr/>
        </p:nvSpPr>
        <p:spPr>
          <a:xfrm>
            <a:off x="6217920" y="1143000"/>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143000"/>
            <a:ext cx="73152" cy="105156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1289304"/>
            <a:ext cx="4892040" cy="777239"/>
          </a:xfrm>
          <a:prstGeom prst="rect">
            <a:avLst/>
          </a:prstGeom>
          <a:noFill/>
        </p:spPr>
        <p:txBody>
          <a:bodyPr wrap="square">
            <a:spAutoFit/>
          </a:bodyPr>
          <a:lstStyle/>
          <a:p>
            <a:r>
              <a:rPr sz="1500" b="1">
                <a:solidFill>
                  <a:srgbClr val="1C345B"/>
                </a:solidFill>
              </a:rPr>
              <a:t>Fix the top funnel gap</a:t>
            </a:r>
          </a:p>
          <a:p>
            <a:pPr>
              <a:spcBef>
                <a:spcPts val="700"/>
              </a:spcBef>
            </a:pPr>
            <a:r>
              <a:rPr sz="1050">
                <a:solidFill>
                  <a:srgbClr val="2D2D32"/>
                </a:solidFill>
              </a:rPr>
              <a:t>Improve creatives, offers, messaging and audience targeting to increase the 8.5% impressions-to-click stage.</a:t>
            </a:r>
          </a:p>
        </p:txBody>
      </p:sp>
      <p:sp>
        <p:nvSpPr>
          <p:cNvPr id="10" name="Rounded Rectangle 9"/>
          <p:cNvSpPr/>
          <p:nvPr/>
        </p:nvSpPr>
        <p:spPr>
          <a:xfrm>
            <a:off x="640080" y="2404872"/>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404872"/>
            <a:ext cx="73152" cy="10515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2551176"/>
            <a:ext cx="4892040" cy="777239"/>
          </a:xfrm>
          <a:prstGeom prst="rect">
            <a:avLst/>
          </a:prstGeom>
          <a:noFill/>
        </p:spPr>
        <p:txBody>
          <a:bodyPr wrap="square">
            <a:spAutoFit/>
          </a:bodyPr>
          <a:lstStyle/>
          <a:p>
            <a:r>
              <a:rPr sz="1500" b="1">
                <a:solidFill>
                  <a:srgbClr val="1C345B"/>
                </a:solidFill>
              </a:rPr>
              <a:t>Optimize spend</a:t>
            </a:r>
          </a:p>
          <a:p>
            <a:pPr>
              <a:spcBef>
                <a:spcPts val="700"/>
              </a:spcBef>
            </a:pPr>
            <a:r>
              <a:rPr sz="1050">
                <a:solidFill>
                  <a:srgbClr val="2D2D32"/>
                </a:solidFill>
              </a:rPr>
              <a:t>Do not increase budgets simply to chase conversions. Reallocate spend toward campaigns that generate stronger returns relative to investment.</a:t>
            </a:r>
          </a:p>
        </p:txBody>
      </p:sp>
      <p:sp>
        <p:nvSpPr>
          <p:cNvPr id="13" name="Rounded Rectangle 12"/>
          <p:cNvSpPr/>
          <p:nvPr/>
        </p:nvSpPr>
        <p:spPr>
          <a:xfrm>
            <a:off x="6217920" y="2404872"/>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2404872"/>
            <a:ext cx="73152" cy="1051560"/>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551176"/>
            <a:ext cx="4892040" cy="777239"/>
          </a:xfrm>
          <a:prstGeom prst="rect">
            <a:avLst/>
          </a:prstGeom>
          <a:noFill/>
        </p:spPr>
        <p:txBody>
          <a:bodyPr wrap="square">
            <a:spAutoFit/>
          </a:bodyPr>
          <a:lstStyle/>
          <a:p>
            <a:r>
              <a:rPr sz="1500" b="1">
                <a:solidFill>
                  <a:srgbClr val="1C345B"/>
                </a:solidFill>
              </a:rPr>
              <a:t>Review weak campaigns</a:t>
            </a:r>
          </a:p>
          <a:p>
            <a:pPr>
              <a:spcBef>
                <a:spcPts val="700"/>
              </a:spcBef>
            </a:pPr>
            <a:r>
              <a:rPr sz="1050">
                <a:solidFill>
                  <a:srgbClr val="2D2D32"/>
                </a:solidFill>
              </a:rPr>
              <a:t>Audit negative-ROI and very-low-conversion campaigns before continuing spend. Test new creative, audience or channel combinations before scaling.</a:t>
            </a:r>
          </a:p>
        </p:txBody>
      </p:sp>
      <p:sp>
        <p:nvSpPr>
          <p:cNvPr id="16" name="Rounded Rectangle 15"/>
          <p:cNvSpPr/>
          <p:nvPr/>
        </p:nvSpPr>
        <p:spPr>
          <a:xfrm>
            <a:off x="640080" y="3666744"/>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666744"/>
            <a:ext cx="73152" cy="1051560"/>
          </a:xfrm>
          <a:prstGeom prst="rect">
            <a:avLst/>
          </a:prstGeom>
          <a:solidFill>
            <a:srgbClr val="E24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813048"/>
            <a:ext cx="4892040" cy="777239"/>
          </a:xfrm>
          <a:prstGeom prst="rect">
            <a:avLst/>
          </a:prstGeom>
          <a:noFill/>
        </p:spPr>
        <p:txBody>
          <a:bodyPr wrap="square">
            <a:spAutoFit/>
          </a:bodyPr>
          <a:lstStyle/>
          <a:p>
            <a:r>
              <a:rPr sz="1500" b="1">
                <a:solidFill>
                  <a:srgbClr val="1C345B"/>
                </a:solidFill>
              </a:rPr>
              <a:t>Prioritize valuable segments</a:t>
            </a:r>
          </a:p>
          <a:p>
            <a:pPr>
              <a:spcBef>
                <a:spcPts val="700"/>
              </a:spcBef>
            </a:pPr>
            <a:r>
              <a:rPr sz="1050">
                <a:solidFill>
                  <a:srgbClr val="2D2D32"/>
                </a:solidFill>
              </a:rPr>
              <a:t>Use Working Women and Premium Shoppers as priority segments while investigating why Youth campaigns underperform.</a:t>
            </a:r>
          </a:p>
        </p:txBody>
      </p:sp>
      <p:sp>
        <p:nvSpPr>
          <p:cNvPr id="19" name="Rounded Rectangle 18"/>
          <p:cNvSpPr/>
          <p:nvPr/>
        </p:nvSpPr>
        <p:spPr>
          <a:xfrm>
            <a:off x="6217920" y="3666744"/>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666744"/>
            <a:ext cx="73152" cy="10515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3813048"/>
            <a:ext cx="4892040" cy="777239"/>
          </a:xfrm>
          <a:prstGeom prst="rect">
            <a:avLst/>
          </a:prstGeom>
          <a:noFill/>
        </p:spPr>
        <p:txBody>
          <a:bodyPr wrap="square">
            <a:spAutoFit/>
          </a:bodyPr>
          <a:lstStyle/>
          <a:p>
            <a:r>
              <a:rPr sz="1500" b="1">
                <a:solidFill>
                  <a:srgbClr val="1C345B"/>
                </a:solidFill>
              </a:rPr>
              <a:t>Use channel insights carefully</a:t>
            </a:r>
          </a:p>
          <a:p>
            <a:pPr>
              <a:spcBef>
                <a:spcPts val="700"/>
              </a:spcBef>
            </a:pPr>
            <a:r>
              <a:rPr sz="1050">
                <a:solidFill>
                  <a:srgbClr val="2D2D32"/>
                </a:solidFill>
              </a:rPr>
              <a:t>Test more investment in Instagram-led strategies and review Facebook/WhatsApp efficiency, but avoid attributing campaign revenue to one channel when campaigns use multiple channels.</a:t>
            </a:r>
          </a:p>
        </p:txBody>
      </p:sp>
      <p:sp>
        <p:nvSpPr>
          <p:cNvPr id="22" name="Rounded Rectangle 21"/>
          <p:cNvSpPr/>
          <p:nvPr/>
        </p:nvSpPr>
        <p:spPr>
          <a:xfrm>
            <a:off x="640080" y="4928616"/>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4928616"/>
            <a:ext cx="73152" cy="10515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7" y="5074920"/>
            <a:ext cx="4892040" cy="777239"/>
          </a:xfrm>
          <a:prstGeom prst="rect">
            <a:avLst/>
          </a:prstGeom>
          <a:noFill/>
        </p:spPr>
        <p:txBody>
          <a:bodyPr wrap="square">
            <a:spAutoFit/>
          </a:bodyPr>
          <a:lstStyle/>
          <a:p>
            <a:r>
              <a:rPr sz="1500" b="1">
                <a:solidFill>
                  <a:srgbClr val="1C345B"/>
                </a:solidFill>
              </a:rPr>
              <a:t>Localize language</a:t>
            </a:r>
          </a:p>
          <a:p>
            <a:pPr>
              <a:spcBef>
                <a:spcPts val="700"/>
              </a:spcBef>
            </a:pPr>
            <a:r>
              <a:rPr sz="1050">
                <a:solidFill>
                  <a:srgbClr val="2D2D32"/>
                </a:solidFill>
              </a:rPr>
              <a:t>Use Hindi creative/messaging as a strong benchmark and investigate why English campaigns underperform in engagement and conversion.</a:t>
            </a:r>
          </a:p>
        </p:txBody>
      </p:sp>
      <p:sp>
        <p:nvSpPr>
          <p:cNvPr id="25" name="Rounded Rectangle 24"/>
          <p:cNvSpPr/>
          <p:nvPr/>
        </p:nvSpPr>
        <p:spPr>
          <a:xfrm>
            <a:off x="6217920" y="4928616"/>
            <a:ext cx="5257800" cy="10515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4928616"/>
            <a:ext cx="73152" cy="1051560"/>
          </a:xfrm>
          <a:prstGeom prst="rect">
            <a:avLst/>
          </a:prstGeom>
          <a:solidFill>
            <a:srgbClr val="1C3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19088" y="5074920"/>
            <a:ext cx="4892040" cy="777239"/>
          </a:xfrm>
          <a:prstGeom prst="rect">
            <a:avLst/>
          </a:prstGeom>
          <a:noFill/>
        </p:spPr>
        <p:txBody>
          <a:bodyPr wrap="square">
            <a:spAutoFit/>
          </a:bodyPr>
          <a:lstStyle/>
          <a:p>
            <a:r>
              <a:rPr sz="1500" b="1">
                <a:solidFill>
                  <a:srgbClr val="1C345B"/>
                </a:solidFill>
              </a:rPr>
              <a:t>Build an experimentation framework</a:t>
            </a:r>
          </a:p>
          <a:p>
            <a:pPr>
              <a:spcBef>
                <a:spcPts val="700"/>
              </a:spcBef>
            </a:pPr>
            <a:r>
              <a:rPr sz="1050">
                <a:solidFill>
                  <a:srgbClr val="2D2D32"/>
                </a:solidFill>
              </a:rPr>
              <a:t>For future A/B tests, compare controlled variants such as creative, language or audience while holding other major factors constant.</a:t>
            </a:r>
          </a:p>
        </p:txBody>
      </p:sp>
      <p:sp>
        <p:nvSpPr>
          <p:cNvPr id="28" name="Rectangle 27"/>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30" name="TextBox 29"/>
          <p:cNvSpPr txBox="1"/>
          <p:nvPr/>
        </p:nvSpPr>
        <p:spPr>
          <a:xfrm>
            <a:off x="11155680" y="6547104"/>
            <a:ext cx="365760" cy="182880"/>
          </a:xfrm>
          <a:prstGeom prst="rect">
            <a:avLst/>
          </a:prstGeom>
          <a:noFill/>
        </p:spPr>
        <p:txBody>
          <a:bodyPr wrap="none">
            <a:spAutoFit/>
          </a:bodyPr>
          <a:lstStyle/>
          <a:p>
            <a:pPr algn="r"/>
            <a:r>
              <a:rPr sz="800">
                <a:solidFill>
                  <a:srgbClr val="646973"/>
                </a:solidFill>
              </a:rPr>
              <a:t>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a:solidFill>
                  <a:srgbClr val="1C345B"/>
                </a:solidFill>
              </a:rPr>
              <a:t>11. Recommended Marketing Decision Framework</a:t>
            </a:r>
          </a:p>
        </p:txBody>
      </p:sp>
      <p:sp>
        <p:nvSpPr>
          <p:cNvPr id="4" name="Rounded Rectangle 3"/>
          <p:cNvSpPr/>
          <p:nvPr/>
        </p:nvSpPr>
        <p:spPr>
          <a:xfrm>
            <a:off x="685800" y="1234440"/>
            <a:ext cx="3429000" cy="35661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356616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3063240" cy="3291840"/>
          </a:xfrm>
          <a:prstGeom prst="rect">
            <a:avLst/>
          </a:prstGeom>
          <a:noFill/>
        </p:spPr>
        <p:txBody>
          <a:bodyPr wrap="square">
            <a:spAutoFit/>
          </a:bodyPr>
          <a:lstStyle/>
          <a:p>
            <a:r>
              <a:rPr sz="1500" b="1">
                <a:solidFill>
                  <a:srgbClr val="1C345B"/>
                </a:solidFill>
              </a:rPr>
              <a:t>SCALE</a:t>
            </a:r>
          </a:p>
          <a:p>
            <a:pPr>
              <a:spcBef>
                <a:spcPts val="700"/>
              </a:spcBef>
            </a:pPr>
            <a:r>
              <a:rPr sz="1400">
                <a:solidFill>
                  <a:srgbClr val="2D2D32"/>
                </a:solidFill>
              </a:rPr>
              <a:t>High ROI
High conversion efficiency
Strong engagement
Strong revenue relative to spend
→ Increase budget gradually and monitor efficiency</a:t>
            </a:r>
          </a:p>
        </p:txBody>
      </p:sp>
      <p:sp>
        <p:nvSpPr>
          <p:cNvPr id="7" name="Rounded Rectangle 6"/>
          <p:cNvSpPr/>
          <p:nvPr/>
        </p:nvSpPr>
        <p:spPr>
          <a:xfrm>
            <a:off x="4389120" y="1234440"/>
            <a:ext cx="3429000" cy="35661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0" y="1234440"/>
            <a:ext cx="73152" cy="3566160"/>
          </a:xfrm>
          <a:prstGeom prst="rect">
            <a:avLst/>
          </a:prstGeom>
          <a:solidFill>
            <a:srgbClr val="E085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0288" y="1380744"/>
            <a:ext cx="3063240" cy="3291840"/>
          </a:xfrm>
          <a:prstGeom prst="rect">
            <a:avLst/>
          </a:prstGeom>
          <a:noFill/>
        </p:spPr>
        <p:txBody>
          <a:bodyPr wrap="square">
            <a:spAutoFit/>
          </a:bodyPr>
          <a:lstStyle/>
          <a:p>
            <a:r>
              <a:rPr sz="1500" b="1">
                <a:solidFill>
                  <a:srgbClr val="1C345B"/>
                </a:solidFill>
              </a:rPr>
              <a:t>OPTIMIZE</a:t>
            </a:r>
          </a:p>
          <a:p>
            <a:pPr>
              <a:spcBef>
                <a:spcPts val="700"/>
              </a:spcBef>
            </a:pPr>
            <a:r>
              <a:rPr sz="1400">
                <a:solidFill>
                  <a:srgbClr val="2D2D32"/>
                </a:solidFill>
              </a:rPr>
              <a:t>Good engagement but weak conversion
High revenue but weak ROI
High CTR but weak downstream conversion
→ Test creative, targeting, offer or landing experience</a:t>
            </a:r>
          </a:p>
        </p:txBody>
      </p:sp>
      <p:sp>
        <p:nvSpPr>
          <p:cNvPr id="10" name="Rounded Rectangle 9"/>
          <p:cNvSpPr/>
          <p:nvPr/>
        </p:nvSpPr>
        <p:spPr>
          <a:xfrm>
            <a:off x="8092440" y="1234440"/>
            <a:ext cx="3429000" cy="356616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92440" y="1234440"/>
            <a:ext cx="73152" cy="356616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93608" y="1380744"/>
            <a:ext cx="3063240" cy="3291840"/>
          </a:xfrm>
          <a:prstGeom prst="rect">
            <a:avLst/>
          </a:prstGeom>
          <a:noFill/>
        </p:spPr>
        <p:txBody>
          <a:bodyPr wrap="square">
            <a:spAutoFit/>
          </a:bodyPr>
          <a:lstStyle/>
          <a:p>
            <a:r>
              <a:rPr sz="1500" b="1">
                <a:solidFill>
                  <a:srgbClr val="1C345B"/>
                </a:solidFill>
              </a:rPr>
              <a:t>REVIEW</a:t>
            </a:r>
          </a:p>
          <a:p>
            <a:pPr>
              <a:spcBef>
                <a:spcPts val="700"/>
              </a:spcBef>
            </a:pPr>
            <a:r>
              <a:rPr sz="1400">
                <a:solidFill>
                  <a:srgbClr val="2D2D32"/>
                </a:solidFill>
              </a:rPr>
              <a:t>Negative ROI
Very low conversion
Low engagement
Low revenue
→ Pause/rework after checking business context</a:t>
            </a:r>
          </a:p>
        </p:txBody>
      </p:sp>
      <p:sp>
        <p:nvSpPr>
          <p:cNvPr id="13" name="Rounded Rectangle 12"/>
          <p:cNvSpPr/>
          <p:nvPr/>
        </p:nvSpPr>
        <p:spPr>
          <a:xfrm>
            <a:off x="685800" y="5074920"/>
            <a:ext cx="10789920" cy="835954"/>
          </a:xfrm>
          <a:prstGeom prst="roundRect">
            <a:avLst/>
          </a:prstGeom>
          <a:solidFill>
            <a:srgbClr val="FF1774"/>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5103795"/>
            <a:ext cx="73152" cy="77724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5221224"/>
            <a:ext cx="10424160" cy="628377"/>
          </a:xfrm>
          <a:prstGeom prst="rect">
            <a:avLst/>
          </a:prstGeom>
          <a:noFill/>
        </p:spPr>
        <p:txBody>
          <a:bodyPr wrap="square">
            <a:spAutoFit/>
          </a:bodyPr>
          <a:lstStyle/>
          <a:p>
            <a:r>
              <a:rPr sz="1500" b="1" dirty="0">
                <a:solidFill>
                  <a:schemeClr val="bg1"/>
                </a:solidFill>
              </a:rPr>
              <a:t>Core principle</a:t>
            </a:r>
          </a:p>
          <a:p>
            <a:pPr>
              <a:spcBef>
                <a:spcPts val="700"/>
              </a:spcBef>
            </a:pPr>
            <a:r>
              <a:rPr sz="1400" dirty="0">
                <a:solidFill>
                  <a:schemeClr val="bg1"/>
                </a:solidFill>
              </a:rPr>
              <a:t>Allocate budget based on efficiency and quality of outcomes, not spend volume alone</a:t>
            </a:r>
            <a:r>
              <a:rPr sz="1400" dirty="0">
                <a:solidFill>
                  <a:srgbClr val="2D2D32"/>
                </a:solidFill>
              </a:rPr>
              <a:t>.</a:t>
            </a:r>
          </a:p>
        </p:txBody>
      </p:sp>
      <p:sp>
        <p:nvSpPr>
          <p:cNvPr id="16" name="Rectangle 15"/>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8" name="TextBox 17"/>
          <p:cNvSpPr txBox="1"/>
          <p:nvPr/>
        </p:nvSpPr>
        <p:spPr>
          <a:xfrm>
            <a:off x="11155680" y="6547104"/>
            <a:ext cx="365760" cy="182880"/>
          </a:xfrm>
          <a:prstGeom prst="rect">
            <a:avLst/>
          </a:prstGeom>
          <a:noFill/>
        </p:spPr>
        <p:txBody>
          <a:bodyPr wrap="none">
            <a:spAutoFit/>
          </a:bodyPr>
          <a:lstStyle/>
          <a:p>
            <a:pPr algn="r"/>
            <a:r>
              <a:rPr sz="800">
                <a:solidFill>
                  <a:srgbClr val="646973"/>
                </a:solidFill>
              </a:rPr>
              <a:t>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dirty="0">
                <a:solidFill>
                  <a:srgbClr val="1C345B"/>
                </a:solidFill>
              </a:rPr>
              <a:t>12. Executive Conclusion</a:t>
            </a:r>
          </a:p>
        </p:txBody>
      </p:sp>
      <p:sp>
        <p:nvSpPr>
          <p:cNvPr id="4" name="TextBox 3"/>
          <p:cNvSpPr txBox="1"/>
          <p:nvPr/>
        </p:nvSpPr>
        <p:spPr>
          <a:xfrm>
            <a:off x="822960" y="1234440"/>
            <a:ext cx="10607040" cy="3816429"/>
          </a:xfrm>
          <a:prstGeom prst="rect">
            <a:avLst/>
          </a:prstGeom>
          <a:noFill/>
        </p:spPr>
        <p:txBody>
          <a:bodyPr wrap="square">
            <a:spAutoFit/>
          </a:bodyPr>
          <a:lstStyle/>
          <a:p>
            <a:pPr>
              <a:spcAft>
                <a:spcPts val="1000"/>
              </a:spcAft>
              <a:defRPr sz="1600">
                <a:solidFill>
                  <a:srgbClr val="2D2D32"/>
                </a:solidFill>
              </a:defRPr>
            </a:pPr>
            <a:r>
              <a:rPr dirty="0"/>
              <a:t>• </a:t>
            </a:r>
            <a:r>
              <a:rPr b="1" dirty="0"/>
              <a:t>Social Media, Paid Ads and Influencer </a:t>
            </a:r>
            <a:r>
              <a:rPr dirty="0"/>
              <a:t>campaigns were the strongest overall campaign-type performers, while Email showed weaker returns.</a:t>
            </a:r>
          </a:p>
          <a:p>
            <a:pPr>
              <a:spcAft>
                <a:spcPts val="1000"/>
              </a:spcAft>
              <a:defRPr sz="1600">
                <a:solidFill>
                  <a:srgbClr val="2D2D32"/>
                </a:solidFill>
              </a:defRPr>
            </a:pPr>
            <a:r>
              <a:rPr dirty="0"/>
              <a:t>• The biggest funnel opportunity is converting </a:t>
            </a:r>
            <a:r>
              <a:rPr b="1" dirty="0"/>
              <a:t>impressions into clicks</a:t>
            </a:r>
            <a:r>
              <a:rPr dirty="0"/>
              <a:t>; later funnel stages perform comparatively better.</a:t>
            </a:r>
          </a:p>
          <a:p>
            <a:pPr>
              <a:spcAft>
                <a:spcPts val="1000"/>
              </a:spcAft>
              <a:defRPr sz="1600">
                <a:solidFill>
                  <a:srgbClr val="2D2D32"/>
                </a:solidFill>
              </a:defRPr>
            </a:pPr>
            <a:r>
              <a:rPr dirty="0"/>
              <a:t>• CTR and Engagement Score are positively associated with Conversion Rate, reinforcing the importance of strong, relevant campaign content.</a:t>
            </a:r>
          </a:p>
          <a:p>
            <a:pPr>
              <a:spcAft>
                <a:spcPts val="1000"/>
              </a:spcAft>
              <a:defRPr sz="1600">
                <a:solidFill>
                  <a:srgbClr val="2D2D32"/>
                </a:solidFill>
              </a:defRPr>
            </a:pPr>
            <a:r>
              <a:rPr dirty="0"/>
              <a:t>• </a:t>
            </a:r>
            <a:r>
              <a:rPr b="1" dirty="0"/>
              <a:t>Working Women and Premium Shoppers </a:t>
            </a:r>
            <a:r>
              <a:rPr dirty="0"/>
              <a:t>are the strongest customer segments in the analysis; Youth performance needs further diagnosis.</a:t>
            </a:r>
          </a:p>
          <a:p>
            <a:pPr>
              <a:spcAft>
                <a:spcPts val="1000"/>
              </a:spcAft>
              <a:defRPr sz="1600">
                <a:solidFill>
                  <a:srgbClr val="2D2D32"/>
                </a:solidFill>
              </a:defRPr>
            </a:pPr>
            <a:r>
              <a:rPr dirty="0"/>
              <a:t>• </a:t>
            </a:r>
            <a:r>
              <a:rPr b="1" dirty="0"/>
              <a:t>Hindi </a:t>
            </a:r>
            <a:r>
              <a:rPr dirty="0"/>
              <a:t>campaigns outperformed English on the key reported metrics.</a:t>
            </a:r>
          </a:p>
          <a:p>
            <a:pPr>
              <a:spcAft>
                <a:spcPts val="1000"/>
              </a:spcAft>
              <a:defRPr sz="1600">
                <a:solidFill>
                  <a:srgbClr val="2D2D32"/>
                </a:solidFill>
              </a:defRPr>
            </a:pPr>
            <a:r>
              <a:rPr dirty="0"/>
              <a:t>• </a:t>
            </a:r>
            <a:r>
              <a:rPr b="1" dirty="0"/>
              <a:t>Instagram</a:t>
            </a:r>
            <a:r>
              <a:rPr dirty="0"/>
              <a:t> was the strongest associated channel, while</a:t>
            </a:r>
            <a:r>
              <a:rPr b="1" dirty="0"/>
              <a:t> Facebook and WhatsApp </a:t>
            </a:r>
            <a:r>
              <a:rPr dirty="0"/>
              <a:t>showed efficiency concerns in the reported analysis.</a:t>
            </a:r>
          </a:p>
          <a:p>
            <a:pPr>
              <a:spcAft>
                <a:spcPts val="1000"/>
              </a:spcAft>
              <a:defRPr sz="1600">
                <a:solidFill>
                  <a:srgbClr val="2D2D32"/>
                </a:solidFill>
              </a:defRPr>
            </a:pPr>
            <a:r>
              <a:rPr dirty="0"/>
              <a:t>• The clearest strategic message is to scale efficient campaigns, improve the top-of-funnel experience, and reallocate spend based on ROI and conversion efficiency.</a:t>
            </a:r>
          </a:p>
        </p:txBody>
      </p:sp>
      <p:sp>
        <p:nvSpPr>
          <p:cNvPr id="5" name="Rectangle 4"/>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7" name="TextBox 6"/>
          <p:cNvSpPr txBox="1"/>
          <p:nvPr/>
        </p:nvSpPr>
        <p:spPr>
          <a:xfrm>
            <a:off x="11155680" y="6547104"/>
            <a:ext cx="365760" cy="182880"/>
          </a:xfrm>
          <a:prstGeom prst="rect">
            <a:avLst/>
          </a:prstGeom>
          <a:noFill/>
        </p:spPr>
        <p:txBody>
          <a:bodyPr wrap="none">
            <a:spAutoFit/>
          </a:bodyPr>
          <a:lstStyle/>
          <a:p>
            <a:pPr algn="r"/>
            <a:r>
              <a:rPr sz="800">
                <a:solidFill>
                  <a:srgbClr val="646973"/>
                </a:solidFill>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48640"/>
          </a:xfrm>
          <a:prstGeom prst="rect">
            <a:avLst/>
          </a:prstGeom>
          <a:noFill/>
        </p:spPr>
        <p:txBody>
          <a:bodyPr wrap="none">
            <a:spAutoFit/>
          </a:bodyPr>
          <a:lstStyle/>
          <a:p>
            <a:r>
              <a:rPr sz="2700" b="1" dirty="0">
                <a:solidFill>
                  <a:srgbClr val="1C345B"/>
                </a:solidFill>
              </a:rPr>
              <a:t>13. Limitations &amp; Next Steps</a:t>
            </a:r>
          </a:p>
        </p:txBody>
      </p:sp>
      <p:sp>
        <p:nvSpPr>
          <p:cNvPr id="4" name="Rounded Rectangle 3"/>
          <p:cNvSpPr/>
          <p:nvPr/>
        </p:nvSpPr>
        <p:spPr>
          <a:xfrm>
            <a:off x="685800" y="1234440"/>
            <a:ext cx="5257800" cy="35204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34440"/>
            <a:ext cx="73152" cy="3520440"/>
          </a:xfrm>
          <a:prstGeom prst="rect">
            <a:avLst/>
          </a:prstGeom>
          <a:solidFill>
            <a:srgbClr val="C3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380744"/>
            <a:ext cx="4892040" cy="3246120"/>
          </a:xfrm>
          <a:prstGeom prst="rect">
            <a:avLst/>
          </a:prstGeom>
          <a:noFill/>
        </p:spPr>
        <p:txBody>
          <a:bodyPr wrap="square">
            <a:spAutoFit/>
          </a:bodyPr>
          <a:lstStyle/>
          <a:p>
            <a:r>
              <a:rPr sz="1500" b="1">
                <a:solidFill>
                  <a:srgbClr val="1C345B"/>
                </a:solidFill>
              </a:rPr>
              <a:t>Limitations</a:t>
            </a:r>
          </a:p>
          <a:p>
            <a:pPr>
              <a:spcBef>
                <a:spcPts val="700"/>
              </a:spcBef>
            </a:pPr>
            <a:r>
              <a:rPr sz="1200">
                <a:solidFill>
                  <a:srgbClr val="2D2D32"/>
                </a:solidFill>
              </a:rPr>
              <a:t>• The analysis is observational; correlations and group comparisons do not establish causation.
• Channel-level results can be affected by multi-channel campaigns, so a campaign's revenue should not be assigned entirely to one channel.
• The provided analysis uses summary findings rather than raw campaign-level data for every comparison.
• No true A/B test or randomized control/treatment design is available in the supplied analysis.
• Thresholds such as 'high' and 'low' should be explicitly defined when operationalizing campaigns for action.</a:t>
            </a:r>
          </a:p>
        </p:txBody>
      </p:sp>
      <p:sp>
        <p:nvSpPr>
          <p:cNvPr id="7" name="Rounded Rectangle 6"/>
          <p:cNvSpPr/>
          <p:nvPr/>
        </p:nvSpPr>
        <p:spPr>
          <a:xfrm>
            <a:off x="6172200" y="1234440"/>
            <a:ext cx="5303520" cy="3520440"/>
          </a:xfrm>
          <a:prstGeom prst="roundRect">
            <a:avLst/>
          </a:prstGeom>
          <a:solidFill>
            <a:srgbClr val="F5F7FB"/>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72200" y="1234440"/>
            <a:ext cx="73152" cy="3520440"/>
          </a:xfrm>
          <a:prstGeom prst="rect">
            <a:avLst/>
          </a:prstGeom>
          <a:solidFill>
            <a:srgbClr val="2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3368" y="1380744"/>
            <a:ext cx="4937759" cy="3246120"/>
          </a:xfrm>
          <a:prstGeom prst="rect">
            <a:avLst/>
          </a:prstGeom>
          <a:noFill/>
        </p:spPr>
        <p:txBody>
          <a:bodyPr wrap="square">
            <a:spAutoFit/>
          </a:bodyPr>
          <a:lstStyle/>
          <a:p>
            <a:r>
              <a:rPr sz="1500" b="1" dirty="0">
                <a:solidFill>
                  <a:srgbClr val="1C345B"/>
                </a:solidFill>
              </a:rPr>
              <a:t>Next steps</a:t>
            </a:r>
          </a:p>
          <a:p>
            <a:pPr>
              <a:spcBef>
                <a:spcPts val="700"/>
              </a:spcBef>
            </a:pPr>
            <a:r>
              <a:rPr sz="1300" dirty="0">
                <a:solidFill>
                  <a:srgbClr val="2D2D32"/>
                </a:solidFill>
              </a:rPr>
              <a:t>• Build the Power BI dashboard around KPI, funnel, segment, channel and spend views.
• Add campaign-level drill-down and clear high/low performance thresholds.
• Test language, creative, audience and channel combinations using controlled experiments.
</a:t>
            </a:r>
            <a:r>
              <a:rPr sz="1300">
                <a:solidFill>
                  <a:srgbClr val="2D2D32"/>
                </a:solidFill>
              </a:rPr>
              <a:t>• Track incremental revenue/profit and customer quality, not only clicks and conversions.
</a:t>
            </a:r>
            <a:r>
              <a:rPr sz="1300" dirty="0">
                <a:solidFill>
                  <a:srgbClr val="2D2D32"/>
                </a:solidFill>
              </a:rPr>
              <a:t>• Monitor performance over time to separate persistent patterns from short-term variation.</a:t>
            </a:r>
          </a:p>
        </p:txBody>
      </p:sp>
      <p:sp>
        <p:nvSpPr>
          <p:cNvPr id="10" name="Rounded Rectangle 9"/>
          <p:cNvSpPr/>
          <p:nvPr/>
        </p:nvSpPr>
        <p:spPr>
          <a:xfrm>
            <a:off x="685800" y="5074919"/>
            <a:ext cx="10789920" cy="892743"/>
          </a:xfrm>
          <a:prstGeom prst="roundRect">
            <a:avLst/>
          </a:prstGeom>
          <a:solidFill>
            <a:srgbClr val="FF1774"/>
          </a:solidFill>
          <a:ln>
            <a:solidFill>
              <a:srgbClr val="E4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5074920"/>
            <a:ext cx="73152" cy="77724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5221224"/>
            <a:ext cx="10424160" cy="612988"/>
          </a:xfrm>
          <a:prstGeom prst="rect">
            <a:avLst/>
          </a:prstGeom>
          <a:noFill/>
        </p:spPr>
        <p:txBody>
          <a:bodyPr wrap="square">
            <a:spAutoFit/>
          </a:bodyPr>
          <a:lstStyle/>
          <a:p>
            <a:r>
              <a:rPr sz="1500" b="1" dirty="0">
                <a:solidFill>
                  <a:schemeClr val="bg1"/>
                </a:solidFill>
              </a:rPr>
              <a:t>Final message</a:t>
            </a:r>
          </a:p>
          <a:p>
            <a:pPr>
              <a:spcBef>
                <a:spcPts val="700"/>
              </a:spcBef>
            </a:pPr>
            <a:r>
              <a:rPr sz="1300" dirty="0">
                <a:solidFill>
                  <a:schemeClr val="bg1"/>
                </a:solidFill>
              </a:rPr>
              <a:t>The analysis should guide where to investigate and invest; future controlled experiments should validate which actions actually cause improvement.</a:t>
            </a:r>
          </a:p>
        </p:txBody>
      </p:sp>
      <p:sp>
        <p:nvSpPr>
          <p:cNvPr id="13" name="Rectangle 12"/>
          <p:cNvSpPr/>
          <p:nvPr/>
        </p:nvSpPr>
        <p:spPr>
          <a:xfrm>
            <a:off x="594360" y="6510528"/>
            <a:ext cx="10972800" cy="18288"/>
          </a:xfrm>
          <a:prstGeom prst="rect">
            <a:avLst/>
          </a:prstGeom>
          <a:solidFill>
            <a:srgbClr val="E1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6565392"/>
            <a:ext cx="10515600" cy="182880"/>
          </a:xfrm>
          <a:prstGeom prst="rect">
            <a:avLst/>
          </a:prstGeom>
          <a:noFill/>
        </p:spPr>
        <p:txBody>
          <a:bodyPr wrap="none">
            <a:spAutoFit/>
          </a:bodyPr>
          <a:lstStyle/>
          <a:p>
            <a:pPr algn="l"/>
            <a:r>
              <a:rPr sz="800">
                <a:solidFill>
                  <a:srgbClr val="646973"/>
                </a:solidFill>
              </a:rPr>
              <a:t>Nykaa Marketing Campaign Analysis</a:t>
            </a:r>
          </a:p>
        </p:txBody>
      </p:sp>
      <p:sp>
        <p:nvSpPr>
          <p:cNvPr id="15" name="TextBox 14"/>
          <p:cNvSpPr txBox="1"/>
          <p:nvPr/>
        </p:nvSpPr>
        <p:spPr>
          <a:xfrm>
            <a:off x="11155680" y="6547104"/>
            <a:ext cx="365760" cy="182880"/>
          </a:xfrm>
          <a:prstGeom prst="rect">
            <a:avLst/>
          </a:prstGeom>
          <a:noFill/>
        </p:spPr>
        <p:txBody>
          <a:bodyPr wrap="none">
            <a:spAutoFit/>
          </a:bodyPr>
          <a:lstStyle/>
          <a:p>
            <a:pPr algn="r"/>
            <a:r>
              <a:rPr sz="800">
                <a:solidFill>
                  <a:srgbClr val="646973"/>
                </a:solidFil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TotalTime>
  <Words>1609</Words>
  <Application>Microsoft Office PowerPoint</Application>
  <PresentationFormat>Widescreen</PresentationFormat>
  <Paragraphs>159</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Harshita Tantia</cp:lastModifiedBy>
  <cp:revision>2</cp:revision>
  <dcterms:created xsi:type="dcterms:W3CDTF">2013-01-27T09:14:16Z</dcterms:created>
  <dcterms:modified xsi:type="dcterms:W3CDTF">2026-09-10T11:44:41Z</dcterms:modified>
  <cp:category/>
</cp:coreProperties>
</file>